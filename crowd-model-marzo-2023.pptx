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6" r:id="rId3"/>
    <p:sldId id="257" r:id="rId4"/>
    <p:sldId id="258" r:id="rId5"/>
    <p:sldId id="274" r:id="rId6"/>
    <p:sldId id="265" r:id="rId7"/>
    <p:sldId id="275" r:id="rId8"/>
    <p:sldId id="276" r:id="rId9"/>
    <p:sldId id="287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05" r:id="rId18"/>
    <p:sldId id="306" r:id="rId19"/>
    <p:sldId id="278" r:id="rId20"/>
    <p:sldId id="285" r:id="rId21"/>
    <p:sldId id="307" r:id="rId22"/>
    <p:sldId id="308" r:id="rId23"/>
    <p:sldId id="311" r:id="rId24"/>
    <p:sldId id="312" r:id="rId25"/>
    <p:sldId id="313" r:id="rId26"/>
    <p:sldId id="316" r:id="rId27"/>
    <p:sldId id="315" r:id="rId28"/>
    <p:sldId id="299" r:id="rId29"/>
    <p:sldId id="300" r:id="rId30"/>
    <p:sldId id="301" r:id="rId31"/>
    <p:sldId id="302" r:id="rId32"/>
    <p:sldId id="303" r:id="rId33"/>
    <p:sldId id="304" r:id="rId34"/>
    <p:sldId id="317" r:id="rId3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4932F-E109-4D27-8C33-C011B97DF8E1}" v="1" dt="2023-04-11T14:35:09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" userId="7cdad10e781ff918" providerId="LiveId" clId="{2C44932F-E109-4D27-8C33-C011B97DF8E1}"/>
    <pc:docChg chg="custSel modSld">
      <pc:chgData name="Carolina" userId="7cdad10e781ff918" providerId="LiveId" clId="{2C44932F-E109-4D27-8C33-C011B97DF8E1}" dt="2023-04-11T14:45:40.139" v="2" actId="207"/>
      <pc:docMkLst>
        <pc:docMk/>
      </pc:docMkLst>
      <pc:sldChg chg="modSp mod">
        <pc:chgData name="Carolina" userId="7cdad10e781ff918" providerId="LiveId" clId="{2C44932F-E109-4D27-8C33-C011B97DF8E1}" dt="2023-04-11T14:45:40.139" v="2" actId="207"/>
        <pc:sldMkLst>
          <pc:docMk/>
          <pc:sldMk cId="3354640112" sldId="317"/>
        </pc:sldMkLst>
        <pc:graphicFrameChg chg="mod modGraphic">
          <ac:chgData name="Carolina" userId="7cdad10e781ff918" providerId="LiveId" clId="{2C44932F-E109-4D27-8C33-C011B97DF8E1}" dt="2023-04-11T14:45:40.139" v="2" actId="207"/>
          <ac:graphicFrameMkLst>
            <pc:docMk/>
            <pc:sldMk cId="3354640112" sldId="317"/>
            <ac:graphicFrameMk id="2" creationId="{1FF6692B-9AAD-1873-26AE-67191609287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C24C34-439E-CF5D-BDBE-D5F7D6AD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B019C38-7CB3-DF19-B83F-D90D83D0A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BEDDF0-EDC2-B03C-4480-2544479D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3F83DE-3A84-D706-E8DB-4FBEC36A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BC408E-F058-CAF3-5B9E-2FCAB4D9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75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D1055-7A11-7C3B-1E0E-BB9DBC7E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B39499-C457-29AF-033C-81C358745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4382AA-A30E-B4D8-B422-17216649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185F89-2B34-8BEC-B887-14BA81A8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B51927-9270-748D-5B43-E48610B2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65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C2912A-AE0E-8C7E-431F-23CE8B48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A979E9-E739-56B1-9F4E-0DAD16859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671141-76EB-60EF-C1B9-BC4C41FE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2EC6CF-221D-0FA5-18E1-62C1090F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7E15F5-43C7-D16E-A6E3-A0F241B2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628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C908DE-6D8F-E627-7016-61348761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FD99B1-AA03-341E-9822-BBF098E96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3C94A67-0ACA-2073-CA61-D376F0909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B90F86C-7DEA-24E5-BB0C-EF851D3F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05AB58-E4D2-5203-BBF6-7BB275454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F5D863-F1E2-528B-393D-CF99A3C1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534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8B0D58-8E69-80E4-3710-69AE33E1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DAC8DB-88E8-50A6-4F23-44EB71953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AD4910C-DE67-6965-E68E-5FA3E4428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210B05-60F2-24B7-32DC-D46FBF8B7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7B33726-78D0-7D9A-5665-0F308B07D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8CC70A2-753D-AF12-DB66-9BE781D0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751131A-8A47-4C6B-D459-ADED7CAE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F9F46B5-D545-55BC-43D1-B9C07DA2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76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9B9BDD-EE03-5152-7D04-BD487FC6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BF43BF5-C5A7-945A-AB50-625241DF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BC644D-F7B7-9A90-E023-30B3F060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D7B087-6E3E-61A9-8F9B-857D0410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085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83E6D67-71D3-AE09-ABCB-09A3B8DF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79D8BE7-7996-EC73-44D8-CCFD7583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4FB186-91E7-A645-6C45-CD654E46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623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C8192A-1233-B88A-C8CB-5AC772CA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E88A4B-91CD-E53D-DEEB-01CCA43BA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AEADCB-6E6B-2BC4-D9C5-FE0E6E7A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39390A-F201-E6B7-1D80-E5F6ABD3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DDDA70-1A37-53FE-D89C-B39CBA94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29336E-10A0-6BF2-6D9B-D2DD152B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30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EF0685-8BF5-147B-2A09-34768887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98B1B9-550D-1274-420D-BCEAA2DC9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432DFB-BEE0-6C31-BEB3-1809D9BE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C0B751A-F2D1-CC07-84CE-3F71C145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062899-E8EF-6892-9BBD-3B90C7BB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ABE637-EBBA-4CCB-AE2C-B6A09D1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771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B95EBD-2541-8816-0B88-192AA3CD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536AF99-62F9-5492-E519-7175732B5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ED74BD-1CA0-D350-8380-ED5FBB26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94F3E6-AF61-9C60-543D-252C8F06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E1CE2B-89DB-BE7E-F5B9-28B72A04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192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98D3FB9-A9B0-D9BB-1881-868F03B68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E3604E4-A5C8-9FB5-80CB-42D476EC9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934CEA-B8BE-A073-6699-C90A43AD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F83FF-E581-82AA-803C-1AC3243E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B85FDA-03C6-4DD2-99A7-0559E35D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99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C9A7E50-0F52-FF67-80E1-9E38A78F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6BD57D-E635-ED55-1602-78ED0BCCA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D0FE92-2D57-6BAB-F3E0-01A3BDB8D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45EF-F663-4958-99ED-05EA9FC1E34E}" type="datetimeFigureOut">
              <a:rPr lang="it-IT" smtClean="0"/>
              <a:t>11/04/2023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C06B52-86CC-4238-F0DC-FED5F1C09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D78A9C-51FF-1C2B-DD3E-18167ABDC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A52F8-45D5-4E59-9C4F-3B3056A875F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71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3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24.sv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13.svg"/><Relationship Id="rId4" Type="http://schemas.openxmlformats.org/officeDocument/2006/relationships/image" Target="../media/image29.png"/><Relationship Id="rId9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8.svg"/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13.svg"/><Relationship Id="rId4" Type="http://schemas.openxmlformats.org/officeDocument/2006/relationships/image" Target="../media/image29.png"/><Relationship Id="rId9" Type="http://schemas.openxmlformats.org/officeDocument/2006/relationships/image" Target="../media/image12.png"/><Relationship Id="rId1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40.png"/><Relationship Id="rId12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409145F-25DA-D6AD-6F4B-125C7AF99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CROWD MODEL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54EAE4A6-39EC-2582-A4C2-1656A438E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Versione Marzo 2023</a:t>
            </a:r>
          </a:p>
        </p:txBody>
      </p:sp>
    </p:spTree>
    <p:extLst>
      <p:ext uri="{BB962C8B-B14F-4D97-AF65-F5344CB8AC3E}">
        <p14:creationId xmlns:p14="http://schemas.microsoft.com/office/powerpoint/2010/main" val="240842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2CC830BF-E55D-A198-0186-68DFD27E4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54249"/>
              </p:ext>
            </p:extLst>
          </p:nvPr>
        </p:nvGraphicFramePr>
        <p:xfrm>
          <a:off x="865238" y="549107"/>
          <a:ext cx="10196052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013">
                  <a:extLst>
                    <a:ext uri="{9D8B030D-6E8A-4147-A177-3AD203B41FA5}">
                      <a16:colId xmlns:a16="http://schemas.microsoft.com/office/drawing/2014/main" val="3096945275"/>
                    </a:ext>
                  </a:extLst>
                </a:gridCol>
                <a:gridCol w="2549013">
                  <a:extLst>
                    <a:ext uri="{9D8B030D-6E8A-4147-A177-3AD203B41FA5}">
                      <a16:colId xmlns:a16="http://schemas.microsoft.com/office/drawing/2014/main" val="3897414396"/>
                    </a:ext>
                  </a:extLst>
                </a:gridCol>
                <a:gridCol w="2549013">
                  <a:extLst>
                    <a:ext uri="{9D8B030D-6E8A-4147-A177-3AD203B41FA5}">
                      <a16:colId xmlns:a16="http://schemas.microsoft.com/office/drawing/2014/main" val="3168905828"/>
                    </a:ext>
                  </a:extLst>
                </a:gridCol>
                <a:gridCol w="2549013">
                  <a:extLst>
                    <a:ext uri="{9D8B030D-6E8A-4147-A177-3AD203B41FA5}">
                      <a16:colId xmlns:a16="http://schemas.microsoft.com/office/drawing/2014/main" val="3223094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SENZA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CON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NUOVO con la conoscenza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Range pesi </a:t>
                      </a:r>
                      <a:r>
                        <a:rPr lang="it-IT" sz="1200" b="1" i="1" dirty="0"/>
                        <a:t>w</a:t>
                      </a:r>
                      <a:r>
                        <a:rPr lang="it-IT" sz="1200" b="1" i="1" baseline="-25000" dirty="0"/>
                        <a:t>ij</a:t>
                      </a:r>
                      <a:r>
                        <a:rPr lang="it-IT" sz="1100" b="1" dirty="0"/>
                        <a:t> </a:t>
                      </a:r>
                      <a:r>
                        <a:rPr lang="it-IT" sz="1200" b="1" dirty="0"/>
                        <a:t>degli archi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[1,100]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[1,100]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]0,1]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Quanto tempo perdono gli agenti per attraversare un 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 </a:t>
                      </a:r>
                      <a:r>
                        <a:rPr lang="it-IT" sz="1200" i="1" dirty="0" err="1"/>
                        <a:t>tick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1" dirty="0"/>
                        <a:t>w</a:t>
                      </a:r>
                      <a:r>
                        <a:rPr lang="it-IT" sz="1200" i="1" baseline="-25000" dirty="0"/>
                        <a:t>ij</a:t>
                      </a:r>
                      <a:r>
                        <a:rPr lang="it-IT" sz="1100" dirty="0"/>
                        <a:t>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1" dirty="0"/>
                        <a:t>C ∙ w</a:t>
                      </a:r>
                      <a:r>
                        <a:rPr lang="it-IT" sz="1200" i="1" baseline="-25000" dirty="0"/>
                        <a:t>ij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00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Numero di agenti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119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Numero di gruppi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242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Numero di agenti in ogni gruppo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86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Ogni quanto vengono generati i gruppi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ogni |V|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ogni |V|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ogni |V|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  <a:p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9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Probabilità di danneggiamento\riparazione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0,02 (link e nodi)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0,02 (link e nodi)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0,02 (solo link)</a:t>
                      </a:r>
                    </a:p>
                    <a:p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1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Quanto tempo hanno gli agenti per trovare l’uscita (cioè quanto dura la simulazione)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2 * numero-di-gruppi * |V|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|V| </a:t>
                      </a:r>
                      <a:r>
                        <a:rPr lang="it-IT" sz="1200" i="1" dirty="0" err="1"/>
                        <a:t>ticks</a:t>
                      </a:r>
                      <a:r>
                        <a:rPr lang="it-IT" sz="1200" i="1" dirty="0"/>
                        <a:t> 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|V</a:t>
                      </a:r>
                      <a:r>
                        <a:rPr lang="it-IT" sz="1200" baseline="30000" dirty="0"/>
                        <a:t>2</a:t>
                      </a:r>
                      <a:r>
                        <a:rPr lang="it-IT" sz="1200" dirty="0"/>
                        <a:t>| </a:t>
                      </a:r>
                      <a:r>
                        <a:rPr lang="it-IT" sz="1200" i="1" dirty="0" err="1"/>
                        <a:t>ticks</a:t>
                      </a:r>
                      <a:r>
                        <a:rPr lang="it-IT" sz="1200" i="1" dirty="0"/>
                        <a:t> </a:t>
                      </a:r>
                      <a:endParaRPr lang="it-IT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5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Ogni quanto viene fatta evaporare la traccia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ogni 50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ogni 50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  <a:p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ogni |V|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9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Di quanto viene fatta evaporare la traccia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0,001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28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Fattore di cooperazione </a:t>
                      </a:r>
                      <a:r>
                        <a:rPr lang="it-IT" sz="1200" b="1" i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Da </a:t>
                      </a:r>
                      <a:r>
                        <a:rPr lang="it-IT" sz="1200" i="1" dirty="0"/>
                        <a:t>f</a:t>
                      </a:r>
                      <a:r>
                        <a:rPr lang="it-IT" sz="1200" i="0" dirty="0"/>
                        <a:t>=0.0 a</a:t>
                      </a:r>
                      <a:r>
                        <a:rPr lang="it-IT" sz="1200" i="1" dirty="0"/>
                        <a:t> f</a:t>
                      </a:r>
                      <a:r>
                        <a:rPr lang="it-IT" sz="1200" i="0" dirty="0"/>
                        <a:t>=1.0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Da </a:t>
                      </a:r>
                      <a:r>
                        <a:rPr lang="it-IT" sz="1200" i="1" dirty="0"/>
                        <a:t>f</a:t>
                      </a:r>
                      <a:r>
                        <a:rPr lang="it-IT" sz="1200" i="0" dirty="0"/>
                        <a:t>=0.0 a</a:t>
                      </a:r>
                      <a:r>
                        <a:rPr lang="it-IT" sz="1200" i="1" dirty="0"/>
                        <a:t> f</a:t>
                      </a:r>
                      <a:r>
                        <a:rPr lang="it-IT" sz="1200" i="0" dirty="0"/>
                        <a:t>=1.0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Da </a:t>
                      </a:r>
                      <a:r>
                        <a:rPr lang="it-IT" sz="1200" i="1" dirty="0"/>
                        <a:t>f</a:t>
                      </a:r>
                      <a:r>
                        <a:rPr lang="it-IT" sz="1200" i="0" dirty="0"/>
                        <a:t>=0.0 a</a:t>
                      </a:r>
                      <a:r>
                        <a:rPr lang="it-IT" sz="1200" i="1" dirty="0"/>
                        <a:t> f</a:t>
                      </a:r>
                      <a:r>
                        <a:rPr lang="it-IT" sz="1200" i="0" dirty="0"/>
                        <a:t>=1.0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8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i="0" dirty="0"/>
                        <a:t>Intervallo fattore </a:t>
                      </a:r>
                      <a:r>
                        <a:rPr lang="it-IT" sz="1200" b="1" i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43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i="0" dirty="0"/>
                        <a:t>Numero di simulazioni per ogni valore di </a:t>
                      </a:r>
                      <a:r>
                        <a:rPr lang="it-IT" sz="1200" b="1" i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624955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8762C4F-3148-4AC7-23C5-6AB6CA0AAC87}"/>
              </a:ext>
            </a:extLst>
          </p:cNvPr>
          <p:cNvSpPr txBox="1"/>
          <p:nvPr/>
        </p:nvSpPr>
        <p:spPr>
          <a:xfrm>
            <a:off x="3510117" y="138644"/>
            <a:ext cx="2202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ASOC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99EE92-3616-D432-E806-1D291636732C}"/>
              </a:ext>
            </a:extLst>
          </p:cNvPr>
          <p:cNvSpPr txBox="1"/>
          <p:nvPr/>
        </p:nvSpPr>
        <p:spPr>
          <a:xfrm>
            <a:off x="6096000" y="138643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Febbraio 2023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78F4AA-7995-0FA2-3E7A-8641E60B5DF0}"/>
              </a:ext>
            </a:extLst>
          </p:cNvPr>
          <p:cNvSpPr txBox="1"/>
          <p:nvPr/>
        </p:nvSpPr>
        <p:spPr>
          <a:xfrm>
            <a:off x="8794954" y="138643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Marzo 2023</a:t>
            </a:r>
          </a:p>
        </p:txBody>
      </p:sp>
    </p:spTree>
    <p:extLst>
      <p:ext uri="{BB962C8B-B14F-4D97-AF65-F5344CB8AC3E}">
        <p14:creationId xmlns:p14="http://schemas.microsoft.com/office/powerpoint/2010/main" val="268013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2CC830BF-E55D-A198-0186-68DFD27E4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44664"/>
              </p:ext>
            </p:extLst>
          </p:nvPr>
        </p:nvGraphicFramePr>
        <p:xfrm>
          <a:off x="1238680" y="1060385"/>
          <a:ext cx="971464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660">
                  <a:extLst>
                    <a:ext uri="{9D8B030D-6E8A-4147-A177-3AD203B41FA5}">
                      <a16:colId xmlns:a16="http://schemas.microsoft.com/office/drawing/2014/main" val="3096945275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3897414396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3168905828"/>
                    </a:ext>
                  </a:extLst>
                </a:gridCol>
                <a:gridCol w="2428660">
                  <a:extLst>
                    <a:ext uri="{9D8B030D-6E8A-4147-A177-3AD203B41FA5}">
                      <a16:colId xmlns:a16="http://schemas.microsoft.com/office/drawing/2014/main" val="1403317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SENZA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CON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Valori usati nel modello NUOVO con la conoscenza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8859"/>
                  </a:ext>
                </a:extLst>
              </a:tr>
              <a:tr h="429346">
                <a:tc>
                  <a:txBody>
                    <a:bodyPr/>
                    <a:lstStyle/>
                    <a:p>
                      <a:r>
                        <a:rPr lang="it-IT" sz="1200" b="1" dirty="0"/>
                        <a:t>Quanto tempo hanno gli agenti per trovare l’uscita (cioè quanto dura la simulazione)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2 * numero-di-gruppi * (</a:t>
                      </a:r>
                      <a:r>
                        <a:rPr lang="it-IT" sz="1200" dirty="0" err="1"/>
                        <a:t>rows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columns</a:t>
                      </a:r>
                      <a:r>
                        <a:rPr lang="it-IT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(</a:t>
                      </a:r>
                      <a:r>
                        <a:rPr lang="it-IT" sz="1200" dirty="0" err="1"/>
                        <a:t>rows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columns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rows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columns</a:t>
                      </a:r>
                      <a:r>
                        <a:rPr lang="it-IT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(</a:t>
                      </a:r>
                      <a:r>
                        <a:rPr lang="it-IT" sz="1200" dirty="0" err="1"/>
                        <a:t>rows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columns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rows</a:t>
                      </a:r>
                      <a:r>
                        <a:rPr lang="it-IT" sz="1200" dirty="0"/>
                        <a:t> * </a:t>
                      </a:r>
                      <a:r>
                        <a:rPr lang="it-IT" sz="1200" dirty="0" err="1"/>
                        <a:t>columns</a:t>
                      </a:r>
                      <a:r>
                        <a:rPr lang="it-IT" sz="1200" dirty="0"/>
                        <a:t>)</a:t>
                      </a:r>
                    </a:p>
                    <a:p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5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2000</a:t>
                      </a:r>
                      <a:r>
                        <a:rPr lang="it-IT" sz="1200" i="1" dirty="0"/>
                        <a:t>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9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2000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10000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10000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28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B1</a:t>
                      </a:r>
                      <a:endParaRPr lang="it-IT" sz="1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4500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50625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50625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8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i="0" dirty="0"/>
                        <a:t>B2</a:t>
                      </a:r>
                      <a:endParaRPr lang="it-IT" sz="1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4500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50625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50625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43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i="0" dirty="0"/>
                        <a:t>C1</a:t>
                      </a:r>
                      <a:endParaRPr lang="it-IT" sz="1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8000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160000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160000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624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i="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8000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160000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160000 </a:t>
                      </a:r>
                      <a:r>
                        <a:rPr lang="it-IT" sz="1200" i="1" dirty="0" err="1"/>
                        <a:t>ticks</a:t>
                      </a:r>
                      <a:endParaRPr lang="it-IT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80535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C810CA-6EC2-395F-AD99-5C3B26B25DA8}"/>
              </a:ext>
            </a:extLst>
          </p:cNvPr>
          <p:cNvSpPr txBox="1"/>
          <p:nvPr/>
        </p:nvSpPr>
        <p:spPr>
          <a:xfrm>
            <a:off x="3598608" y="664118"/>
            <a:ext cx="2202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ASOC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2BF493A-41E9-0970-D377-7D91C0AF7B3B}"/>
              </a:ext>
            </a:extLst>
          </p:cNvPr>
          <p:cNvSpPr txBox="1"/>
          <p:nvPr/>
        </p:nvSpPr>
        <p:spPr>
          <a:xfrm>
            <a:off x="6184491" y="664117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Febbraio 2023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82DBDA-01F0-271A-A789-7E330BEAD37C}"/>
              </a:ext>
            </a:extLst>
          </p:cNvPr>
          <p:cNvSpPr txBox="1"/>
          <p:nvPr/>
        </p:nvSpPr>
        <p:spPr>
          <a:xfrm>
            <a:off x="8883445" y="664117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Marzo 2023</a:t>
            </a:r>
          </a:p>
        </p:txBody>
      </p:sp>
    </p:spTree>
    <p:extLst>
      <p:ext uri="{BB962C8B-B14F-4D97-AF65-F5344CB8AC3E}">
        <p14:creationId xmlns:p14="http://schemas.microsoft.com/office/powerpoint/2010/main" val="128581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2CC830BF-E55D-A198-0186-68DFD27E4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51990"/>
              </p:ext>
            </p:extLst>
          </p:nvPr>
        </p:nvGraphicFramePr>
        <p:xfrm>
          <a:off x="1565466" y="626807"/>
          <a:ext cx="8896056" cy="37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014">
                  <a:extLst>
                    <a:ext uri="{9D8B030D-6E8A-4147-A177-3AD203B41FA5}">
                      <a16:colId xmlns:a16="http://schemas.microsoft.com/office/drawing/2014/main" val="3096945275"/>
                    </a:ext>
                  </a:extLst>
                </a:gridCol>
                <a:gridCol w="2224014">
                  <a:extLst>
                    <a:ext uri="{9D8B030D-6E8A-4147-A177-3AD203B41FA5}">
                      <a16:colId xmlns:a16="http://schemas.microsoft.com/office/drawing/2014/main" val="3897414396"/>
                    </a:ext>
                  </a:extLst>
                </a:gridCol>
                <a:gridCol w="2224014">
                  <a:extLst>
                    <a:ext uri="{9D8B030D-6E8A-4147-A177-3AD203B41FA5}">
                      <a16:colId xmlns:a16="http://schemas.microsoft.com/office/drawing/2014/main" val="3168905828"/>
                    </a:ext>
                  </a:extLst>
                </a:gridCol>
                <a:gridCol w="2224014">
                  <a:extLst>
                    <a:ext uri="{9D8B030D-6E8A-4147-A177-3AD203B41FA5}">
                      <a16:colId xmlns:a16="http://schemas.microsoft.com/office/drawing/2014/main" val="3026632445"/>
                    </a:ext>
                  </a:extLst>
                </a:gridCol>
              </a:tblGrid>
              <a:tr h="597336">
                <a:tc>
                  <a:txBody>
                    <a:bodyPr/>
                    <a:lstStyle/>
                    <a:p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SENZA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Valori usati nel modello CON il tempo di attesa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/>
                        <a:t>Valori usati nel modello NUOVO con la conoscenza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8859"/>
                  </a:ext>
                </a:extLst>
              </a:tr>
              <a:tr h="377481">
                <a:tc>
                  <a:txBody>
                    <a:bodyPr/>
                    <a:lstStyle/>
                    <a:p>
                      <a:r>
                        <a:rPr lang="it-IT" sz="1200" b="1" dirty="0"/>
                        <a:t>alfa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1</a:t>
                      </a:r>
                    </a:p>
                    <a:p>
                      <a:r>
                        <a:rPr lang="it-IT" sz="1200" i="0" dirty="0"/>
                        <a:t>0,5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r>
                        <a:rPr lang="it-IT" sz="1200" i="0" dirty="0"/>
                        <a:t>0,5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it-IT" sz="1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51714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r>
                        <a:rPr lang="it-IT" sz="1200" b="1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1</a:t>
                      </a:r>
                    </a:p>
                    <a:p>
                      <a:r>
                        <a:rPr lang="it-IT" sz="1200" i="0" dirty="0"/>
                        <a:t>0,5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r>
                        <a:rPr lang="it-IT" sz="1200" i="1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it-IT" sz="1200" i="1" dirty="0">
                          <a:solidFill>
                            <a:schemeClr val="tx1"/>
                          </a:solidFill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93567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r>
                        <a:rPr lang="it-IT" sz="1200" b="1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0,1 alta traccia</a:t>
                      </a:r>
                    </a:p>
                    <a:p>
                      <a:r>
                        <a:rPr lang="it-IT" sz="1200" i="0" dirty="0"/>
                        <a:t>0,001 bassa traccia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0,1 alta traccia</a:t>
                      </a:r>
                    </a:p>
                    <a:p>
                      <a:r>
                        <a:rPr lang="it-IT" sz="1200" i="0" dirty="0"/>
                        <a:t>0,001 bassa traccia</a:t>
                      </a:r>
                      <a:endParaRPr lang="it-IT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0,1 alta traccia</a:t>
                      </a:r>
                    </a:p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0,001 bassa traccia</a:t>
                      </a:r>
                      <a:endParaRPr lang="it-IT" sz="12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28806"/>
                  </a:ext>
                </a:extLst>
              </a:tr>
              <a:tr h="597336">
                <a:tc>
                  <a:txBody>
                    <a:bodyPr/>
                    <a:lstStyle/>
                    <a:p>
                      <a:r>
                        <a:rPr lang="it-IT" sz="1200" b="1" dirty="0"/>
                        <a:t>i - Informazione sui pesi degli archi rilasciata dagli agenti collaborativi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1/</a:t>
                      </a:r>
                      <a:r>
                        <a:rPr lang="it-IT" sz="1200" i="1" dirty="0"/>
                        <a:t>w</a:t>
                      </a:r>
                      <a:r>
                        <a:rPr lang="it-IT" sz="1200" i="1" baseline="-25000" dirty="0"/>
                        <a:t>ij</a:t>
                      </a:r>
                      <a:r>
                        <a:rPr lang="it-IT" sz="1100" dirty="0"/>
                        <a:t> </a:t>
                      </a:r>
                      <a:endParaRPr lang="it-IT" sz="1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1/</a:t>
                      </a:r>
                      <a:r>
                        <a:rPr lang="it-IT" sz="1200" i="1" dirty="0"/>
                        <a:t>w</a:t>
                      </a:r>
                      <a:r>
                        <a:rPr lang="it-IT" sz="1200" i="1" baseline="-25000" dirty="0"/>
                        <a:t>ij</a:t>
                      </a:r>
                      <a:r>
                        <a:rPr lang="it-IT" sz="1100" dirty="0"/>
                        <a:t> </a:t>
                      </a:r>
                      <a:endParaRPr lang="it-IT" sz="1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1" dirty="0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lang="it-IT" sz="1200" i="1" baseline="-25000" dirty="0">
                          <a:solidFill>
                            <a:schemeClr val="tx1"/>
                          </a:solidFill>
                        </a:rPr>
                        <a:t>ij</a:t>
                      </a:r>
                      <a:r>
                        <a:rPr lang="it-IT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it-IT" sz="12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873117"/>
                  </a:ext>
                </a:extLst>
              </a:tr>
              <a:tr h="346076">
                <a:tc>
                  <a:txBody>
                    <a:bodyPr/>
                    <a:lstStyle/>
                    <a:p>
                      <a:r>
                        <a:rPr lang="it-IT" sz="1200" b="1" dirty="0"/>
                        <a:t>alfa &lt;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Più peso all’informazione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Più peso all’informazione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Più peso all’informazione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484689"/>
                  </a:ext>
                </a:extLst>
              </a:tr>
              <a:tr h="346076">
                <a:tc>
                  <a:txBody>
                    <a:bodyPr/>
                    <a:lstStyle/>
                    <a:p>
                      <a:r>
                        <a:rPr lang="it-IT" sz="1200" b="1" dirty="0"/>
                        <a:t>alfa &gt;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i="0" dirty="0"/>
                        <a:t>Più peso alla traccia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Più peso alla traccia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Più peso alla traccia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61736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r>
                        <a:rPr lang="it-IT" sz="1200" b="1" dirty="0"/>
                        <a:t>alfa =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/>
                        <a:t>Uguale peso a traccia e informazione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rgbClr val="FF0000"/>
                          </a:solidFill>
                        </a:rPr>
                        <a:t>Uguale peso a traccia e informazione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i="0" dirty="0">
                          <a:solidFill>
                            <a:schemeClr val="tx1"/>
                          </a:solidFill>
                        </a:rPr>
                        <a:t>Uguale peso a traccia e informazione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088695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99AACA-285B-3DF2-2179-07F56733B8D4}"/>
              </a:ext>
            </a:extLst>
          </p:cNvPr>
          <p:cNvSpPr txBox="1"/>
          <p:nvPr/>
        </p:nvSpPr>
        <p:spPr>
          <a:xfrm>
            <a:off x="3893575" y="293503"/>
            <a:ext cx="163215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ASOC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6F5E24-422F-DB9A-8DE5-9ABEE7B05B76}"/>
              </a:ext>
            </a:extLst>
          </p:cNvPr>
          <p:cNvSpPr txBox="1"/>
          <p:nvPr/>
        </p:nvSpPr>
        <p:spPr>
          <a:xfrm>
            <a:off x="6096000" y="293502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Febbraio 2023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3D224F-7A67-CF28-B68E-83509F22A0D3}"/>
              </a:ext>
            </a:extLst>
          </p:cNvPr>
          <p:cNvSpPr txBox="1"/>
          <p:nvPr/>
        </p:nvSpPr>
        <p:spPr>
          <a:xfrm>
            <a:off x="8303341" y="293501"/>
            <a:ext cx="184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 Marzo 2023</a:t>
            </a:r>
          </a:p>
        </p:txBody>
      </p:sp>
    </p:spTree>
    <p:extLst>
      <p:ext uri="{BB962C8B-B14F-4D97-AF65-F5344CB8AC3E}">
        <p14:creationId xmlns:p14="http://schemas.microsoft.com/office/powerpoint/2010/main" val="370333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637731" y="1641143"/>
            <a:ext cx="8352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MECCANISMO DI RILASCIO DELL’INFORMAZIONE DA PARTE DEGLI AGENTI COLLABORATIVI</a:t>
            </a:r>
            <a:endParaRPr lang="en-GB" sz="3600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95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73" y="180751"/>
            <a:ext cx="728512" cy="94504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360610-BF35-257C-0E59-5258D5914C3F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0</a:t>
            </a:r>
            <a:endParaRPr lang="en-GB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BBE88D8A-DA92-3F5B-2C69-27693C4D8992}"/>
                  </a:ext>
                </a:extLst>
              </p:cNvPr>
              <p:cNvSpPr txBox="1"/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Il collaborativo, dopo il suo passaggio,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</a:t>
                </a:r>
                <a:r>
                  <a:rPr lang="it-IT" sz="1400" dirty="0">
                    <a:latin typeface="Bierstadt" panose="020B0004020202020204" pitchFamily="34" charset="0"/>
                  </a:rPr>
                  <a:t> relativa al suo passaggio e  una informazione relativa al peso dell’arco appena attraversato uguale al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dell’arco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BBE88D8A-DA92-3F5B-2C69-27693C4D8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blipFill>
                <a:blip r:embed="rId4"/>
                <a:stretch>
                  <a:fillRect l="-392" t="-264" r="-392" b="-2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33DF9172-561E-A611-3F83-018C48C546F0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D30048-5960-44F0-C69F-994C84594E64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CD4A9E9-D842-B71A-9B53-63388D52B81E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76CCC4D-DF65-69DE-D5DD-DB02A2D1ED38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785C2AB-67BA-D431-608E-668C24327059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4038CC1-BB3C-8A00-E90E-86FD22C828D0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FD2CD22-1DCC-7B93-8FB3-B331CD8DBF2F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0BCC74B-3233-A82F-1411-8273E77DD82C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4C8189D-F1B0-1139-18C2-527880BB2DED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F42DACC-F615-843B-9785-35567A52A9A7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5C2A2B9-5F0D-7A5D-4E8F-75771E3E6C7F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5361022-3F63-7EA7-6B2E-B613772A709A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917EEA02-D163-5FB0-E825-851F41468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113185"/>
            <a:ext cx="4190315" cy="1667211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2E3539D-98D8-8B3D-9D79-8C4B75EC97C9}"/>
              </a:ext>
            </a:extLst>
          </p:cNvPr>
          <p:cNvCxnSpPr>
            <a:cxnSpLocks/>
          </p:cNvCxnSpPr>
          <p:nvPr/>
        </p:nvCxnSpPr>
        <p:spPr>
          <a:xfrm flipH="1">
            <a:off x="4723914" y="2152009"/>
            <a:ext cx="72030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1A93D9C-D171-F922-CAF0-C45927DD2365}"/>
              </a:ext>
            </a:extLst>
          </p:cNvPr>
          <p:cNvCxnSpPr>
            <a:cxnSpLocks/>
          </p:cNvCxnSpPr>
          <p:nvPr/>
        </p:nvCxnSpPr>
        <p:spPr>
          <a:xfrm flipH="1" flipV="1">
            <a:off x="1962952" y="978839"/>
            <a:ext cx="1422493" cy="716609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925" y="933878"/>
            <a:ext cx="728512" cy="945042"/>
          </a:xfrm>
          <a:prstGeom prst="rect">
            <a:avLst/>
          </a:prstGeom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C0EEBA11-E7A7-7770-E7C3-52272279F57B}"/>
              </a:ext>
            </a:extLst>
          </p:cNvPr>
          <p:cNvSpPr/>
          <p:nvPr/>
        </p:nvSpPr>
        <p:spPr>
          <a:xfrm>
            <a:off x="3264606" y="1625087"/>
            <a:ext cx="150149" cy="65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30D03F3-C2F6-FDB2-1827-127EDB8CECB5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8523FFB-9611-DC2B-ACA6-2441B15DA005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B6E537E-6E2B-A1C3-2B4B-0AFC65B9AE89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1B2F92B-9D1C-C528-16C0-9A4E0919F1A3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3E10499-FC24-1044-202C-2C85DC2876D2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4064E2B-A189-5C38-7F29-5FEF98A9BAA4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05A8284-9373-3D8E-1B67-A4C1132BF584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04EFD11-2B23-CBAE-2A75-91CDB4CDFE9F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87669D2-398F-B97A-653A-396DF0C58200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C3E8874-EF14-BE4F-A76E-AC908DBDC4EC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A3DFF2F-1D91-83A8-52E9-00D6104657E4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710A851-87A5-CC2F-A900-73B096DBCCF5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53D20E98-C115-19DF-8F09-8B8125B7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480" y="5113185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7EA96C-0C28-37B2-4F5D-FE7D552FF4EA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1</a:t>
            </a:r>
            <a:endParaRPr lang="en-GB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9F537BC-DD0E-511D-5FA2-286119366D06}"/>
                  </a:ext>
                </a:extLst>
              </p:cNvPr>
              <p:cNvSpPr txBox="1"/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Il collaborativo, dopo il suo passaggio,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</a:t>
                </a:r>
                <a:r>
                  <a:rPr lang="it-IT" sz="1400" dirty="0">
                    <a:latin typeface="Bierstadt" panose="020B0004020202020204" pitchFamily="34" charset="0"/>
                  </a:rPr>
                  <a:t> relativa al suo passaggio e  una informazione relativa al peso dell’arco appena attraversato uguale al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dell’arco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9F537BC-DD0E-511D-5FA2-286119366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blipFill>
                <a:blip r:embed="rId5"/>
                <a:stretch>
                  <a:fillRect l="-392" t="-264" r="-392" b="-2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42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A70A13C-6D53-2C87-0AF3-79D14A1F9FED}"/>
              </a:ext>
            </a:extLst>
          </p:cNvPr>
          <p:cNvCxnSpPr>
            <a:cxnSpLocks/>
          </p:cNvCxnSpPr>
          <p:nvPr/>
        </p:nvCxnSpPr>
        <p:spPr>
          <a:xfrm flipH="1" flipV="1">
            <a:off x="1962952" y="978839"/>
            <a:ext cx="1422493" cy="716609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1F85BA1-B57B-6C13-1686-10CEDA92AC46}"/>
              </a:ext>
            </a:extLst>
          </p:cNvPr>
          <p:cNvCxnSpPr>
            <a:cxnSpLocks/>
          </p:cNvCxnSpPr>
          <p:nvPr/>
        </p:nvCxnSpPr>
        <p:spPr>
          <a:xfrm flipH="1" flipV="1">
            <a:off x="3605123" y="1786269"/>
            <a:ext cx="1422493" cy="716609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578" y="1752842"/>
            <a:ext cx="728512" cy="945042"/>
          </a:xfrm>
          <a:prstGeom prst="rect">
            <a:avLst/>
          </a:prstGeom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C0EEBA11-E7A7-7770-E7C3-52272279F57B}"/>
              </a:ext>
            </a:extLst>
          </p:cNvPr>
          <p:cNvSpPr/>
          <p:nvPr/>
        </p:nvSpPr>
        <p:spPr>
          <a:xfrm>
            <a:off x="4844522" y="2431005"/>
            <a:ext cx="150149" cy="65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A7E8489-4013-635F-01EA-581AF667080A}"/>
              </a:ext>
            </a:extLst>
          </p:cNvPr>
          <p:cNvSpPr/>
          <p:nvPr/>
        </p:nvSpPr>
        <p:spPr>
          <a:xfrm>
            <a:off x="3264606" y="1625087"/>
            <a:ext cx="150149" cy="651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9FC661-5496-A95D-BD7E-595A0EA8C9A1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EEA6DA-FEFC-89B9-586F-6C5573F7FB25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7F26D6-6BFE-B38D-3090-D197C89FED8D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6C8E48B-0FCE-E27A-8DB9-A65078701390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21D4095-2C50-08DE-AA90-4AA659CBD282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CAE3164-407D-CCE2-9717-690194E3A8E6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262295C-05DF-B6B5-F731-16DD66B55E3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72F1202-5CAB-7937-9ED0-8E61BF583E70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C0A19E8-8E81-634B-4EC9-93A93EDBE7A8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7D63A2D-FA6D-A9AF-F691-7E239B618CF9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3057F42-E501-19B6-5471-9F1D8AFB1C11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8A6EDB9-F2D4-1ABC-3B5B-865DF8AE083B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3B76A67D-1B37-0972-35E2-7509CD078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480" y="5113185"/>
            <a:ext cx="4190315" cy="166721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7C75BF4-037A-9414-B558-497E45F8322E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1AB6D45-1AF9-512B-028E-519AED6999C9}"/>
                  </a:ext>
                </a:extLst>
              </p:cNvPr>
              <p:cNvSpPr txBox="1"/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Il collaborativo, dopo il suo passaggio,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</a:t>
                </a:r>
                <a:r>
                  <a:rPr lang="it-IT" sz="1400" dirty="0">
                    <a:latin typeface="Bierstadt" panose="020B0004020202020204" pitchFamily="34" charset="0"/>
                  </a:rPr>
                  <a:t> relativa al suo passaggio e  una informazione relativa al peso dell’arco appena attraversato uguale al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dell’arco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1AB6D45-1AF9-512B-028E-519AED699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516" y="77604"/>
                <a:ext cx="3099948" cy="2298706"/>
              </a:xfrm>
              <a:prstGeom prst="rect">
                <a:avLst/>
              </a:prstGeom>
              <a:blipFill>
                <a:blip r:embed="rId5"/>
                <a:stretch>
                  <a:fillRect l="-392" t="-264" r="-392" b="-2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68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637731" y="1641143"/>
            <a:ext cx="8352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MECCANISMO DI ACQUISIZIONE DELLA CONOSCENZA DELL’AMBIENTE DI UN QUALSIASI AGENTE</a:t>
            </a:r>
          </a:p>
        </p:txBody>
      </p:sp>
    </p:spTree>
    <p:extLst>
      <p:ext uri="{BB962C8B-B14F-4D97-AF65-F5344CB8AC3E}">
        <p14:creationId xmlns:p14="http://schemas.microsoft.com/office/powerpoint/2010/main" val="115645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42" y="158781"/>
            <a:ext cx="728512" cy="94504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8FFE8-E9B7-E98D-ABF9-387207B0FCED}"/>
              </a:ext>
            </a:extLst>
          </p:cNvPr>
          <p:cNvSpPr txBox="1"/>
          <p:nvPr/>
        </p:nvSpPr>
        <p:spPr>
          <a:xfrm>
            <a:off x="8509226" y="53750"/>
            <a:ext cx="3579616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Un qualsiasi agente, sia esso collaborativo o disertore, dopo aver attraversato un link memorizza il peso </a:t>
            </a:r>
            <a:r>
              <a:rPr lang="it-IT" sz="1400" i="1" dirty="0"/>
              <a:t>w</a:t>
            </a:r>
            <a:r>
              <a:rPr lang="it-IT" sz="1400" i="1" baseline="-25000" dirty="0"/>
              <a:t>ij  </a:t>
            </a:r>
            <a:r>
              <a:rPr lang="it-IT" sz="1400" dirty="0">
                <a:latin typeface="Bierstadt" panose="020B0004020202020204" pitchFamily="34" charset="0"/>
              </a:rPr>
              <a:t>di quel link. Ciò costituisce la sua </a:t>
            </a:r>
            <a:r>
              <a:rPr lang="it-IT" sz="1400" b="1" dirty="0">
                <a:latin typeface="Bierstadt" panose="020B0004020202020204" pitchFamily="34" charset="0"/>
              </a:rPr>
              <a:t>conoscenza pregressa</a:t>
            </a:r>
            <a:r>
              <a:rPr lang="it-IT" sz="1400" dirty="0">
                <a:latin typeface="Bierstadt" panose="020B0004020202020204" pitchFamily="34" charset="0"/>
              </a:rPr>
              <a:t>.</a:t>
            </a: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La conoscenza pregressa allo step 0 (e cioè quando l’agente si trova sull’entrata) è vuota poiché non ha ancora percorso alcun link. 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5781E07-9C1D-DDDF-225F-984FAB6EDAAB}"/>
              </a:ext>
            </a:extLst>
          </p:cNvPr>
          <p:cNvSpPr txBox="1"/>
          <p:nvPr/>
        </p:nvSpPr>
        <p:spPr>
          <a:xfrm>
            <a:off x="4443763" y="6207234"/>
            <a:ext cx="552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  <a:p>
            <a:pPr algn="just"/>
            <a:r>
              <a:rPr lang="it-IT" sz="1400" dirty="0">
                <a:latin typeface="Bierstadt" panose="020B0004020202020204" pitchFamily="34" charset="0"/>
              </a:rPr>
              <a:t>Il passaggio verso il link\nodo successivo fa scattare il tempo.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239B6C-DCD9-5970-F3A3-44023BEE1D90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3C50FBC-1939-E4F6-89C1-1C32742B8BB6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9C8F848-D36F-DDBC-951D-2FDD88588765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BCD8FEB-742C-38FA-904E-63644DC767FA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4E36A00-7371-3ABA-DAC3-3F3DD895EBE3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E22804D-2840-E91A-D54D-68F1F2D11FC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9AAA932-7475-99AF-316B-309494E18E5D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AAC55AC-D224-EAAE-E2DF-B070EAFDA7A9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298C5C8-8CF5-34E6-DB4D-130491F64BBC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595619A-AEC7-B8BC-9C3E-C661023CEE13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144B9A7-D28C-8B63-3290-FBDD72403FF7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506AFE68-E166-6BF0-2570-4BD71B2AEDAB}"/>
              </a:ext>
            </a:extLst>
          </p:cNvPr>
          <p:cNvCxnSpPr>
            <a:cxnSpLocks/>
          </p:cNvCxnSpPr>
          <p:nvPr/>
        </p:nvCxnSpPr>
        <p:spPr>
          <a:xfrm flipV="1">
            <a:off x="2156850" y="260389"/>
            <a:ext cx="345781" cy="39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1368017-9C48-DBD7-3A90-BE3D1FA8BCDE}"/>
                  </a:ext>
                </a:extLst>
              </p:cNvPr>
              <p:cNvSpPr txBox="1"/>
              <p:nvPr/>
            </p:nvSpPr>
            <p:spPr>
              <a:xfrm>
                <a:off x="2623853" y="153468"/>
                <a:ext cx="1252901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  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1368017-9C48-DBD7-3A90-BE3D1FA8B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853" y="153468"/>
                <a:ext cx="1252901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D007BDA-E4D5-3FC1-D374-0C8567D3F966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6B965C3-5E6F-14C3-34E6-9C26C8DC8BDF}"/>
              </a:ext>
            </a:extLst>
          </p:cNvPr>
          <p:cNvSpPr txBox="1"/>
          <p:nvPr/>
        </p:nvSpPr>
        <p:spPr>
          <a:xfrm>
            <a:off x="2278142" y="490930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C69E5F-892A-4A2B-6F65-2ACA57BC3C71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0</a:t>
            </a:r>
            <a:endParaRPr lang="en-GB" dirty="0">
              <a:latin typeface="Bierstadt" panose="020B00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480FABF-EC52-5CA7-9812-B46A35B96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3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805" y="946960"/>
            <a:ext cx="728512" cy="94504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8FFE8-E9B7-E98D-ABF9-387207B0FCED}"/>
              </a:ext>
            </a:extLst>
          </p:cNvPr>
          <p:cNvSpPr txBox="1"/>
          <p:nvPr/>
        </p:nvSpPr>
        <p:spPr>
          <a:xfrm>
            <a:off x="8509226" y="53750"/>
            <a:ext cx="357961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Un qualsiasi agente, sia esso collaborativo o disertore, dopo aver attraversato un link memorizza il peso </a:t>
            </a:r>
            <a:r>
              <a:rPr lang="it-IT" sz="1400" i="1" dirty="0"/>
              <a:t>w</a:t>
            </a:r>
            <a:r>
              <a:rPr lang="it-IT" sz="1400" i="1" baseline="-25000" dirty="0"/>
              <a:t>ij  </a:t>
            </a:r>
            <a:r>
              <a:rPr lang="it-IT" sz="1400" dirty="0">
                <a:latin typeface="Bierstadt" panose="020B0004020202020204" pitchFamily="34" charset="0"/>
              </a:rPr>
              <a:t>di quel link. Ciò costituisce la sua conoscenza pregressa.</a:t>
            </a: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La conoscenza pregressa allo step 0 (e cioè quando l’agente si trova sull’entrata) è vuota poiché non ha ancora percorso alcun link. 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Ma mano che esplora l’ambiente, memorizza il peso degli archi che ha attraversato.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5781E07-9C1D-DDDF-225F-984FAB6EDAAB}"/>
              </a:ext>
            </a:extLst>
          </p:cNvPr>
          <p:cNvSpPr txBox="1"/>
          <p:nvPr/>
        </p:nvSpPr>
        <p:spPr>
          <a:xfrm>
            <a:off x="4443763" y="6207234"/>
            <a:ext cx="552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  <a:p>
            <a:pPr algn="just"/>
            <a:r>
              <a:rPr lang="it-IT" sz="1400" dirty="0">
                <a:latin typeface="Bierstadt" panose="020B0004020202020204" pitchFamily="34" charset="0"/>
              </a:rPr>
              <a:t>Il passaggio verso il link\nodo successivo fa scattare il tempo.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C9359E7F-0651-2538-9D83-336B791482AC}"/>
              </a:ext>
            </a:extLst>
          </p:cNvPr>
          <p:cNvCxnSpPr>
            <a:cxnSpLocks/>
            <a:endCxn id="70" idx="5"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18AAB5E-86C3-F5D0-8E45-1B1875837947}"/>
              </a:ext>
            </a:extLst>
          </p:cNvPr>
          <p:cNvCxnSpPr>
            <a:cxnSpLocks/>
          </p:cNvCxnSpPr>
          <p:nvPr/>
        </p:nvCxnSpPr>
        <p:spPr>
          <a:xfrm flipV="1">
            <a:off x="3652447" y="737419"/>
            <a:ext cx="191966" cy="2095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/>
              <p:nvPr/>
            </p:nvSpPr>
            <p:spPr>
              <a:xfrm>
                <a:off x="3936317" y="319616"/>
                <a:ext cx="1270956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317" y="319616"/>
                <a:ext cx="1270956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C8FF37A-149D-41C1-4E60-60B2A643E4C7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1DD8F6-3D6D-59F5-803B-AC1AE8E1A943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B044C7-F609-D312-8254-ADC2A3DDEF89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9307CE5-8166-9016-BC06-16769A394343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03AB01E-793D-27AD-2E56-F244D2124A62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CC66FD7-AC38-9A78-F931-CF2F281AEC48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F28C3EF-218C-BE2B-8811-E591DCEBB8D0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A853C55-8F9F-06D1-E8B4-537A7A1C473C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C1CC20B-71D2-9959-DA5E-655A549BE0D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26CE1F7-1C7E-AF0B-C992-DB7965F589F6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1AF7757-0733-528F-8497-9A48068D834B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5CD54338-3D03-231C-9018-141C5685B031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C0CCC9F-E437-E246-3BA6-BB6B6E8754FE}"/>
              </a:ext>
            </a:extLst>
          </p:cNvPr>
          <p:cNvSpPr txBox="1"/>
          <p:nvPr/>
        </p:nvSpPr>
        <p:spPr>
          <a:xfrm>
            <a:off x="3711214" y="55763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7C44EB4A-376C-DE32-05F3-1EE71A4BC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B778508-8BCB-6772-A73D-9E0C48861FCD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1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77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35" y="1745112"/>
            <a:ext cx="728512" cy="94504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8FFE8-E9B7-E98D-ABF9-387207B0FCED}"/>
              </a:ext>
            </a:extLst>
          </p:cNvPr>
          <p:cNvSpPr txBox="1"/>
          <p:nvPr/>
        </p:nvSpPr>
        <p:spPr>
          <a:xfrm>
            <a:off x="8509226" y="53750"/>
            <a:ext cx="357961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Un qualsiasi agente, sia esso collaborativo o disertore, dopo aver attraversato un link memorizza il peso </a:t>
            </a:r>
            <a:r>
              <a:rPr lang="it-IT" sz="1400" i="1" dirty="0"/>
              <a:t>w</a:t>
            </a:r>
            <a:r>
              <a:rPr lang="it-IT" sz="1400" i="1" baseline="-25000" dirty="0"/>
              <a:t>ij  </a:t>
            </a:r>
            <a:r>
              <a:rPr lang="it-IT" sz="1400" dirty="0">
                <a:latin typeface="Bierstadt" panose="020B0004020202020204" pitchFamily="34" charset="0"/>
              </a:rPr>
              <a:t>di quel link. Ciò costituisce la sua conoscenza pregressa.</a:t>
            </a: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La conoscenza pregressa allo step 0 (e cioè quando l’agente si trova sull’entrata) è vuota poiché non ha ancora percorso alcun link. 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Ma mano che esplora l’ambiente, memorizza il peso degli archi che ha attraversato.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5781E07-9C1D-DDDF-225F-984FAB6EDAAB}"/>
              </a:ext>
            </a:extLst>
          </p:cNvPr>
          <p:cNvSpPr txBox="1"/>
          <p:nvPr/>
        </p:nvSpPr>
        <p:spPr>
          <a:xfrm>
            <a:off x="4443763" y="6207234"/>
            <a:ext cx="552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  <a:p>
            <a:pPr algn="just"/>
            <a:r>
              <a:rPr lang="it-IT" sz="1400" dirty="0">
                <a:latin typeface="Bierstadt" panose="020B0004020202020204" pitchFamily="34" charset="0"/>
              </a:rPr>
              <a:t>Il passaggio verso il link\nodo successivo fa scattare il tempo.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C9359E7F-0651-2538-9D83-336B791482AC}"/>
              </a:ext>
            </a:extLst>
          </p:cNvPr>
          <p:cNvCxnSpPr>
            <a:cxnSpLocks/>
            <a:endCxn id="70" idx="5"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18AAB5E-86C3-F5D0-8E45-1B187583794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939509" y="486617"/>
            <a:ext cx="1996808" cy="12655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/>
              <p:nvPr/>
            </p:nvSpPr>
            <p:spPr>
              <a:xfrm>
                <a:off x="3936317" y="319616"/>
                <a:ext cx="1658238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317" y="319616"/>
                <a:ext cx="1658238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730EB1A-89D8-E83B-21F2-9318042CFED0}"/>
              </a:ext>
            </a:extLst>
          </p:cNvPr>
          <p:cNvCxnSpPr>
            <a:cxnSpLocks/>
          </p:cNvCxnSpPr>
          <p:nvPr/>
        </p:nvCxnSpPr>
        <p:spPr>
          <a:xfrm flipH="1">
            <a:off x="2112595" y="1855143"/>
            <a:ext cx="1266034" cy="59867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407A807-AC6A-E9E5-063F-32162EFDCA9E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9B52831-A9BE-A427-4DCE-C9DD0502C88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819A026-1D2F-47F2-BE42-793E74574075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A80D214-3031-7A65-1BEF-9578D232015B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147F64E-37C2-5AFF-12C9-8C6FAC3AC14F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06F2C23-315F-22BA-1CD9-E5A57794B777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7BFD5ED-009C-0F79-F96B-589232F8ACC1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D511862-79AB-51B3-FAB1-8CCFBA9A620E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EBF9F85-AFBF-4CA2-C198-1A6E0F073352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71ED2C7-5628-B589-3990-7027CD076F8C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4B1A688-C43A-4D16-325B-CA9ED4E49A67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BAE9FDF-183C-522F-6FA4-0C1FE7A5E7E5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F57F488-2D36-DB93-DE0B-EE357C873373}"/>
              </a:ext>
            </a:extLst>
          </p:cNvPr>
          <p:cNvSpPr txBox="1"/>
          <p:nvPr/>
        </p:nvSpPr>
        <p:spPr>
          <a:xfrm>
            <a:off x="3855895" y="57736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120569EB-51D2-0B22-6A64-97A29E458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BF76AA-91A5-796C-667F-1B222A471349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8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696" y="2521751"/>
            <a:ext cx="728512" cy="94504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8FFE8-E9B7-E98D-ABF9-387207B0FCED}"/>
              </a:ext>
            </a:extLst>
          </p:cNvPr>
          <p:cNvSpPr txBox="1"/>
          <p:nvPr/>
        </p:nvSpPr>
        <p:spPr>
          <a:xfrm>
            <a:off x="8509226" y="53750"/>
            <a:ext cx="357961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Un qualsiasi agente, sia esso collaborativo o disertore, dopo aver attraversato un link memorizza il peso </a:t>
            </a:r>
            <a:r>
              <a:rPr lang="it-IT" sz="1400" i="1" dirty="0"/>
              <a:t>w</a:t>
            </a:r>
            <a:r>
              <a:rPr lang="it-IT" sz="1400" i="1" baseline="-25000" dirty="0"/>
              <a:t>ij  </a:t>
            </a:r>
            <a:r>
              <a:rPr lang="it-IT" sz="1400" dirty="0">
                <a:latin typeface="Bierstadt" panose="020B0004020202020204" pitchFamily="34" charset="0"/>
              </a:rPr>
              <a:t>di quel link. Ciò costituisce la sua conoscenza pregressa.</a:t>
            </a: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La conoscenza pregressa allo step 0 (e cioè quando l’agente si trova sull’entrata) è vuota poiché non ha ancora percorso alcun link. 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Ma mano che esplora l’ambiente, memorizza il peso degli archi che ha attraversato.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5781E07-9C1D-DDDF-225F-984FAB6EDAAB}"/>
              </a:ext>
            </a:extLst>
          </p:cNvPr>
          <p:cNvSpPr txBox="1"/>
          <p:nvPr/>
        </p:nvSpPr>
        <p:spPr>
          <a:xfrm>
            <a:off x="4443763" y="6207234"/>
            <a:ext cx="552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  <a:p>
            <a:pPr algn="just"/>
            <a:r>
              <a:rPr lang="it-IT" sz="1400" dirty="0">
                <a:latin typeface="Bierstadt" panose="020B0004020202020204" pitchFamily="34" charset="0"/>
              </a:rPr>
              <a:t>Il passaggio verso il link\nodo successivo fa scattare il tempo.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C9359E7F-0651-2538-9D83-336B791482AC}"/>
              </a:ext>
            </a:extLst>
          </p:cNvPr>
          <p:cNvCxnSpPr>
            <a:cxnSpLocks/>
            <a:endCxn id="70" idx="5"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18AAB5E-86C3-F5D0-8E45-1B1875837947}"/>
              </a:ext>
            </a:extLst>
          </p:cNvPr>
          <p:cNvCxnSpPr>
            <a:cxnSpLocks/>
            <a:stCxn id="231" idx="0"/>
            <a:endCxn id="9" idx="1"/>
          </p:cNvCxnSpPr>
          <p:nvPr/>
        </p:nvCxnSpPr>
        <p:spPr>
          <a:xfrm flipV="1">
            <a:off x="3532952" y="486617"/>
            <a:ext cx="403364" cy="20351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/>
              <p:nvPr/>
            </p:nvSpPr>
            <p:spPr>
              <a:xfrm>
                <a:off x="3936316" y="319616"/>
                <a:ext cx="204975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316" y="319616"/>
                <a:ext cx="2049755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730EB1A-89D8-E83B-21F2-9318042CFED0}"/>
              </a:ext>
            </a:extLst>
          </p:cNvPr>
          <p:cNvCxnSpPr>
            <a:cxnSpLocks/>
          </p:cNvCxnSpPr>
          <p:nvPr/>
        </p:nvCxnSpPr>
        <p:spPr>
          <a:xfrm flipH="1">
            <a:off x="2112595" y="1855143"/>
            <a:ext cx="1266034" cy="59867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0966B70-5203-AB87-33C1-A305F5FC5479}"/>
              </a:ext>
            </a:extLst>
          </p:cNvPr>
          <p:cNvCxnSpPr>
            <a:cxnSpLocks/>
          </p:cNvCxnSpPr>
          <p:nvPr/>
        </p:nvCxnSpPr>
        <p:spPr>
          <a:xfrm flipH="1" flipV="1">
            <a:off x="2063267" y="2602189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D0ED5B-F842-E2FE-3587-B67B1A3CFAE9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040987E-33AD-2CCC-0FBF-5D62EE01B92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471BDD7-E049-36CB-42E6-36163BDA5DE3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6FC7648-5C55-96A3-B379-7D7827BBED2A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C4F4043-2E51-9439-13D1-FF5BDB0AA7CC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84C65E6-6E22-A917-7E07-161973AD8390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8000655-97F6-E344-FA93-1301A68F6CCF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47081C4-3D8E-6C88-B583-0B7D37B8BAFE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A14EE8A-712D-5695-99CE-807ABB85255C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62B9C07-EB18-6563-7C52-0256060A37D3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A1B5420-E30E-F28C-1207-48C226EFA527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C7ABE3D-057D-FADA-D3C1-A67254893178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BB52D7C-9662-08C9-D735-4976FE276BAC}"/>
              </a:ext>
            </a:extLst>
          </p:cNvPr>
          <p:cNvSpPr txBox="1"/>
          <p:nvPr/>
        </p:nvSpPr>
        <p:spPr>
          <a:xfrm>
            <a:off x="4027490" y="47850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195EFF5C-232D-5E7C-0574-FE6CA7807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7D213BD-2EB1-D06A-77C0-7A397A9458F9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3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4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814" y="1706524"/>
            <a:ext cx="728512" cy="94504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E8FFE8-E9B7-E98D-ABF9-387207B0FCED}"/>
              </a:ext>
            </a:extLst>
          </p:cNvPr>
          <p:cNvSpPr txBox="1"/>
          <p:nvPr/>
        </p:nvSpPr>
        <p:spPr>
          <a:xfrm>
            <a:off x="8509226" y="53750"/>
            <a:ext cx="357961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Un qualsiasi agente, sia esso collaborativo o disertore, dopo aver attraversato un link memorizza il peso </a:t>
            </a:r>
            <a:r>
              <a:rPr lang="it-IT" sz="1400" i="1" dirty="0"/>
              <a:t>w</a:t>
            </a:r>
            <a:r>
              <a:rPr lang="it-IT" sz="1400" i="1" baseline="-25000" dirty="0"/>
              <a:t>ij  </a:t>
            </a:r>
            <a:r>
              <a:rPr lang="it-IT" sz="1400" dirty="0">
                <a:latin typeface="Bierstadt" panose="020B0004020202020204" pitchFamily="34" charset="0"/>
              </a:rPr>
              <a:t>di quel link. Ciò costituisce la sua conoscenza pregressa.</a:t>
            </a: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La conoscenza pregressa allo step 0 (e cioè quando l’agente si trova sull’entrata) è vuota poiché non ha ancora percorso alcun link. 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it-IT" sz="1400" dirty="0">
              <a:latin typeface="Bierstadt" panose="020B000402020202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1400" dirty="0">
                <a:latin typeface="Bierstadt" panose="020B0004020202020204" pitchFamily="34" charset="0"/>
                <a:cs typeface="Calibri" panose="020F0502020204030204" pitchFamily="34" charset="0"/>
              </a:rPr>
              <a:t>Ma mano che esplora l’ambiente, memorizza il peso degli archi che ha attraversato.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5781E07-9C1D-DDDF-225F-984FAB6EDAAB}"/>
              </a:ext>
            </a:extLst>
          </p:cNvPr>
          <p:cNvSpPr txBox="1"/>
          <p:nvPr/>
        </p:nvSpPr>
        <p:spPr>
          <a:xfrm>
            <a:off x="4443763" y="6207234"/>
            <a:ext cx="5521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  <a:p>
            <a:pPr algn="just"/>
            <a:r>
              <a:rPr lang="it-IT" sz="1400" dirty="0">
                <a:latin typeface="Bierstadt" panose="020B0004020202020204" pitchFamily="34" charset="0"/>
              </a:rPr>
              <a:t>Il passaggio verso il link\nodo successivo fa scattare il tempo.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C9359E7F-0651-2538-9D83-336B791482AC}"/>
              </a:ext>
            </a:extLst>
          </p:cNvPr>
          <p:cNvCxnSpPr>
            <a:cxnSpLocks/>
            <a:endCxn id="70" idx="5"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18AAB5E-86C3-F5D0-8E45-1B1875837947}"/>
              </a:ext>
            </a:extLst>
          </p:cNvPr>
          <p:cNvCxnSpPr>
            <a:cxnSpLocks/>
            <a:stCxn id="231" idx="0"/>
          </p:cNvCxnSpPr>
          <p:nvPr/>
        </p:nvCxnSpPr>
        <p:spPr>
          <a:xfrm flipH="1" flipV="1">
            <a:off x="5124320" y="743179"/>
            <a:ext cx="50750" cy="9633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/>
              <p:nvPr/>
            </p:nvSpPr>
            <p:spPr>
              <a:xfrm>
                <a:off x="3936316" y="319616"/>
                <a:ext cx="2415323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0.3, 0.1]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B91FFBD3-B51A-3F76-AE37-6559EDAB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316" y="319616"/>
                <a:ext cx="2415323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730EB1A-89D8-E83B-21F2-9318042CFED0}"/>
              </a:ext>
            </a:extLst>
          </p:cNvPr>
          <p:cNvCxnSpPr>
            <a:cxnSpLocks/>
          </p:cNvCxnSpPr>
          <p:nvPr/>
        </p:nvCxnSpPr>
        <p:spPr>
          <a:xfrm flipH="1">
            <a:off x="2112595" y="1855143"/>
            <a:ext cx="1266034" cy="59867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0966B70-5203-AB87-33C1-A305F5FC5479}"/>
              </a:ext>
            </a:extLst>
          </p:cNvPr>
          <p:cNvCxnSpPr>
            <a:cxnSpLocks/>
          </p:cNvCxnSpPr>
          <p:nvPr/>
        </p:nvCxnSpPr>
        <p:spPr>
          <a:xfrm flipH="1" flipV="1">
            <a:off x="2063267" y="2602189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D0ED5B-F842-E2FE-3587-B67B1A3CFAE9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040987E-33AD-2CCC-0FBF-5D62EE01B92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471BDD7-E049-36CB-42E6-36163BDA5DE3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6FC7648-5C55-96A3-B379-7D7827BBED2A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C4F4043-2E51-9439-13D1-FF5BDB0AA7CC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84C65E6-6E22-A917-7E07-161973AD8390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8000655-97F6-E344-FA93-1301A68F6CCF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47081C4-3D8E-6C88-B583-0B7D37B8BAFE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A14EE8A-712D-5695-99CE-807ABB85255C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62B9C07-EB18-6563-7C52-0256060A37D3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A1B5420-E30E-F28C-1207-48C226EFA527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32C1ACD-0CAD-208F-6EF9-F676C6A98D95}"/>
              </a:ext>
            </a:extLst>
          </p:cNvPr>
          <p:cNvCxnSpPr>
            <a:cxnSpLocks/>
          </p:cNvCxnSpPr>
          <p:nvPr/>
        </p:nvCxnSpPr>
        <p:spPr>
          <a:xfrm flipH="1">
            <a:off x="3668110" y="2645585"/>
            <a:ext cx="1266034" cy="59867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DF71F38-65A0-73F2-EBC1-B75CF61FF9DF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0C0D545-82DB-B8BD-BE4A-6046B52D5F0A}"/>
              </a:ext>
            </a:extLst>
          </p:cNvPr>
          <p:cNvSpPr txBox="1"/>
          <p:nvPr/>
        </p:nvSpPr>
        <p:spPr>
          <a:xfrm>
            <a:off x="4205006" y="57192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4EEC2F09-23FC-3409-449C-9B3852381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674DD4-B668-5C62-EA92-2D3C71EA0B56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4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17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841147" y="450745"/>
            <a:ext cx="8352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A COSA SERVE QUESTA CONOSCENZA PREGRESSA?</a:t>
            </a:r>
            <a:endParaRPr lang="en-GB" sz="3600" dirty="0">
              <a:latin typeface="Bierstadt" panose="020B00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C9E66AD-8467-8EE5-3BAF-0813EF86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743" y="4750643"/>
            <a:ext cx="728512" cy="945042"/>
          </a:xfrm>
          <a:prstGeom prst="rect">
            <a:avLst/>
          </a:prstGeom>
        </p:spPr>
      </p:pic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9C8A363-DD58-C9A5-8E60-F7D94CB8F446}"/>
              </a:ext>
            </a:extLst>
          </p:cNvPr>
          <p:cNvCxnSpPr>
            <a:cxnSpLocks/>
          </p:cNvCxnSpPr>
          <p:nvPr/>
        </p:nvCxnSpPr>
        <p:spPr>
          <a:xfrm flipV="1">
            <a:off x="6095999" y="3822143"/>
            <a:ext cx="0" cy="9285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/>
              <p:nvPr/>
            </p:nvSpPr>
            <p:spPr>
              <a:xfrm>
                <a:off x="4888338" y="3261999"/>
                <a:ext cx="2415323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0.3, 0.1]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338" y="3261999"/>
                <a:ext cx="2415323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magine 16">
            <a:extLst>
              <a:ext uri="{FF2B5EF4-FFF2-40B4-BE49-F238E27FC236}">
                <a16:creationId xmlns:a16="http://schemas.microsoft.com/office/drawing/2014/main" id="{4F8E938B-54A9-B6F0-A8AD-FB1D92486E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38" y="1821972"/>
            <a:ext cx="2538258" cy="126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94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841147" y="450745"/>
            <a:ext cx="8352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SERVE AD AIUTARE GLI AGENTI NELLA SCELTA DEI PERCORSI</a:t>
            </a:r>
            <a:endParaRPr lang="en-GB" sz="3600" dirty="0">
              <a:latin typeface="Bierstadt" panose="020B00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C9E66AD-8467-8EE5-3BAF-0813EF86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436" y="5687692"/>
            <a:ext cx="728512" cy="945042"/>
          </a:xfrm>
          <a:prstGeom prst="rect">
            <a:avLst/>
          </a:prstGeom>
        </p:spPr>
      </p:pic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9C8A363-DD58-C9A5-8E60-F7D94CB8F446}"/>
              </a:ext>
            </a:extLst>
          </p:cNvPr>
          <p:cNvCxnSpPr>
            <a:cxnSpLocks/>
            <a:stCxn id="2" idx="0"/>
            <a:endCxn id="4" idx="2"/>
          </p:cNvCxnSpPr>
          <p:nvPr/>
        </p:nvCxnSpPr>
        <p:spPr>
          <a:xfrm flipH="1" flipV="1">
            <a:off x="4403146" y="4758732"/>
            <a:ext cx="1800546" cy="9289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/>
              <p:nvPr/>
            </p:nvSpPr>
            <p:spPr>
              <a:xfrm>
                <a:off x="3195484" y="4424730"/>
                <a:ext cx="2415323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0.3, 0.1]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84" y="4424730"/>
                <a:ext cx="2415323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C532EE12-1010-7C22-24B0-AE73FC620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597" y="1858297"/>
            <a:ext cx="1936189" cy="2332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/>
              <p:nvPr/>
            </p:nvSpPr>
            <p:spPr>
              <a:xfrm>
                <a:off x="6640506" y="4417035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506" y="4417035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 b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D79DA82-381A-AAC7-1467-0CF84584E67D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 flipV="1">
            <a:off x="6203692" y="4766426"/>
            <a:ext cx="1813442" cy="9212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112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220BC7B-77B1-AB04-33B4-7E67A9913F14}"/>
                  </a:ext>
                </a:extLst>
              </p:cNvPr>
              <p:cNvSpPr txBox="1"/>
              <p:nvPr/>
            </p:nvSpPr>
            <p:spPr>
              <a:xfrm>
                <a:off x="1732992" y="398514"/>
                <a:ext cx="8352430" cy="1619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600" dirty="0">
                    <a:latin typeface="Bierstadt" panose="020B0004020202020204" pitchFamily="34" charset="0"/>
                  </a:rPr>
                  <a:t>IN CHE MODO?</a:t>
                </a:r>
              </a:p>
              <a:p>
                <a:pPr algn="ctr"/>
                <a:r>
                  <a:rPr lang="it-IT" sz="2000" dirty="0">
                    <a:latin typeface="Bierstadt" panose="020B0004020202020204" pitchFamily="34" charset="0"/>
                  </a:rPr>
                  <a:t>GLI AGENTI SCELGONO I PERCORSI MEDIANDO DUE QUANTITA’: </a:t>
                </a:r>
              </a:p>
              <a:p>
                <a:pPr algn="ctr"/>
                <a:r>
                  <a:rPr lang="it-IT" sz="2000" dirty="0">
                    <a:latin typeface="Bierstadt" panose="020B0004020202020204" pitchFamily="34" charset="0"/>
                  </a:rPr>
                  <a:t>LA TRACCIA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2000" dirty="0">
                    <a:latin typeface="Bierstadt" panose="020B0004020202020204" pitchFamily="34" charset="0"/>
                  </a:rPr>
                  <a:t> E LA DESIDERABILITA’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2000" dirty="0">
                    <a:latin typeface="Bierstadt" panose="020B0004020202020204" pitchFamily="34" charset="0"/>
                  </a:rPr>
                  <a:t> .</a:t>
                </a:r>
              </a:p>
              <a:p>
                <a:pPr algn="ctr"/>
                <a:r>
                  <a:rPr lang="it-IT" sz="2000" dirty="0">
                    <a:latin typeface="Bierstadt" panose="020B0004020202020204" pitchFamily="34" charset="0"/>
                  </a:rPr>
                  <a:t>LA CONOSCENZA PREGRESSA E’ LEGATA ALLA DESIDERABILITA’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2000" dirty="0">
                    <a:latin typeface="Bierstadt" panose="020B0004020202020204" pitchFamily="3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220BC7B-77B1-AB04-33B4-7E67A991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992" y="398514"/>
                <a:ext cx="8352430" cy="1619033"/>
              </a:xfrm>
              <a:prstGeom prst="rect">
                <a:avLst/>
              </a:prstGeom>
              <a:blipFill>
                <a:blip r:embed="rId2"/>
                <a:stretch>
                  <a:fillRect t="-5639" b="-45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>
            <a:extLst>
              <a:ext uri="{FF2B5EF4-FFF2-40B4-BE49-F238E27FC236}">
                <a16:creationId xmlns:a16="http://schemas.microsoft.com/office/drawing/2014/main" id="{CC9E66AD-8467-8EE5-3BAF-0813EF86C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27" y="5738623"/>
            <a:ext cx="728512" cy="945042"/>
          </a:xfrm>
          <a:prstGeom prst="rect">
            <a:avLst/>
          </a:prstGeom>
        </p:spPr>
      </p:pic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9C8A363-DD58-C9A5-8E60-F7D94CB8F446}"/>
              </a:ext>
            </a:extLst>
          </p:cNvPr>
          <p:cNvCxnSpPr>
            <a:cxnSpLocks/>
            <a:stCxn id="2" idx="0"/>
            <a:endCxn id="4" idx="2"/>
          </p:cNvCxnSpPr>
          <p:nvPr/>
        </p:nvCxnSpPr>
        <p:spPr>
          <a:xfrm flipH="1" flipV="1">
            <a:off x="4256239" y="5207090"/>
            <a:ext cx="1763144" cy="5315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/>
              <p:nvPr/>
            </p:nvSpPr>
            <p:spPr>
              <a:xfrm>
                <a:off x="3048577" y="4873088"/>
                <a:ext cx="2415323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0.3, 0.1]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577" y="4873088"/>
                <a:ext cx="2415323" cy="334002"/>
              </a:xfrm>
              <a:prstGeom prst="rect">
                <a:avLst/>
              </a:prstGeom>
              <a:blipFill>
                <a:blip r:embed="rId5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C532EE12-1010-7C22-24B0-AE73FC6204C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524"/>
          <a:stretch/>
        </p:blipFill>
        <p:spPr>
          <a:xfrm>
            <a:off x="6799120" y="2053040"/>
            <a:ext cx="1936189" cy="2110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/>
              <p:nvPr/>
            </p:nvSpPr>
            <p:spPr>
              <a:xfrm>
                <a:off x="6482231" y="4840454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231" y="4840454"/>
                <a:ext cx="2753256" cy="349391"/>
              </a:xfrm>
              <a:prstGeom prst="rect">
                <a:avLst/>
              </a:prstGeom>
              <a:blipFill>
                <a:blip r:embed="rId7"/>
                <a:stretch>
                  <a:fillRect b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D79DA82-381A-AAC7-1467-0CF84584E67D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 flipV="1">
            <a:off x="6019383" y="5189845"/>
            <a:ext cx="1839476" cy="5487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Immagine 13">
            <a:extLst>
              <a:ext uri="{FF2B5EF4-FFF2-40B4-BE49-F238E27FC236}">
                <a16:creationId xmlns:a16="http://schemas.microsoft.com/office/drawing/2014/main" id="{5C73F91E-C7A7-F7D5-024D-F41608DDEA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577" y="2378943"/>
            <a:ext cx="2538258" cy="126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57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220BC7B-77B1-AB04-33B4-7E67A9913F14}"/>
                  </a:ext>
                </a:extLst>
              </p:cNvPr>
              <p:cNvSpPr txBox="1"/>
              <p:nvPr/>
            </p:nvSpPr>
            <p:spPr>
              <a:xfrm>
                <a:off x="825910" y="271683"/>
                <a:ext cx="11051458" cy="3768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3600" dirty="0">
                    <a:latin typeface="Bierstadt" panose="020B0004020202020204" pitchFamily="34" charset="0"/>
                  </a:rPr>
                  <a:t>IN CHE MODO?</a:t>
                </a:r>
              </a:p>
              <a:p>
                <a:pPr algn="ctr"/>
                <a:endParaRPr lang="it-IT" sz="2000" dirty="0">
                  <a:latin typeface="Bierstadt" panose="020B0004020202020204" pitchFamily="34" charset="0"/>
                </a:endParaRPr>
              </a:p>
              <a:p>
                <a:pPr algn="ctr"/>
                <a:r>
                  <a:rPr lang="it-IT" dirty="0">
                    <a:latin typeface="Bierstadt" panose="020B0004020202020204" pitchFamily="34" charset="0"/>
                  </a:rPr>
                  <a:t>GLI AGENTI SCELGONO I PERCORSI MEDIANDO DUE QUANTITA’: </a:t>
                </a:r>
              </a:p>
              <a:p>
                <a:pPr algn="ctr"/>
                <a:r>
                  <a:rPr lang="it-IT" dirty="0">
                    <a:latin typeface="Bierstadt" panose="020B0004020202020204" pitchFamily="34" charset="0"/>
                  </a:rPr>
                  <a:t>LA TRACCIA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dirty="0">
                    <a:latin typeface="Bierstadt" panose="020B0004020202020204" pitchFamily="34" charset="0"/>
                  </a:rPr>
                  <a:t> E LA DESIDERABILITA’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dirty="0">
                    <a:latin typeface="Bierstadt" panose="020B0004020202020204" pitchFamily="34" charset="0"/>
                  </a:rPr>
                  <a:t> .</a:t>
                </a:r>
              </a:p>
              <a:p>
                <a:pPr algn="ctr"/>
                <a:r>
                  <a:rPr lang="it-IT" dirty="0">
                    <a:latin typeface="Bierstadt" panose="020B0004020202020204" pitchFamily="34" charset="0"/>
                  </a:rPr>
                  <a:t>LA CONOSCENZA PREGRESSA E’ LEGATA ALLA DESIDERABILITA’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dirty="0">
                    <a:latin typeface="Bierstadt" panose="020B0004020202020204" pitchFamily="34" charset="0"/>
                  </a:rPr>
                  <a:t> .</a:t>
                </a:r>
              </a:p>
              <a:p>
                <a:pPr algn="just"/>
                <a:endParaRPr lang="it-IT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dirty="0">
                    <a:latin typeface="Bierstadt" panose="020B0004020202020204" pitchFamily="34" charset="0"/>
                  </a:rPr>
                  <a:t>SI POSSONO VERIFICARE TRE CASI:</a:t>
                </a:r>
              </a:p>
              <a:p>
                <a:pPr algn="ctr"/>
                <a:endParaRPr lang="it-IT" dirty="0">
                  <a:latin typeface="Bierstadt" panose="020B0004020202020204" pitchFamily="34" charset="0"/>
                </a:endParaRPr>
              </a:p>
              <a:p>
                <a:pPr marL="457200" indent="-457200" algn="just">
                  <a:buFont typeface="+mj-lt"/>
                  <a:buAutoNum type="arabicParenR"/>
                </a:pPr>
                <a:r>
                  <a:rPr lang="it-IT" dirty="0">
                    <a:latin typeface="Bierstadt" panose="020B0004020202020204" pitchFamily="34" charset="0"/>
                  </a:rPr>
                  <a:t>LA CONOSCENZA PREGRESSA NON C’E’.</a:t>
                </a:r>
              </a:p>
              <a:p>
                <a:pPr marL="457200" indent="-457200" algn="just">
                  <a:buFont typeface="+mj-lt"/>
                  <a:buAutoNum type="arabicParenR"/>
                </a:pPr>
                <a:r>
                  <a:rPr lang="it-IT" dirty="0">
                    <a:latin typeface="Bierstadt" panose="020B0004020202020204" pitchFamily="34" charset="0"/>
                  </a:rPr>
                  <a:t>LA CONOSCENZA PREGRESSA C’E’ MA GLI AGENTI NON LA USANO</a:t>
                </a:r>
              </a:p>
              <a:p>
                <a:pPr marL="457200" indent="-457200" algn="just">
                  <a:buFont typeface="+mj-lt"/>
                  <a:buAutoNum type="arabicParenR"/>
                </a:pPr>
                <a:r>
                  <a:rPr lang="it-IT" dirty="0">
                    <a:latin typeface="Bierstadt" panose="020B0004020202020204" pitchFamily="34" charset="0"/>
                  </a:rPr>
                  <a:t>LA CONOSCENZA PREGRESSA C’E’ E GLI AGENTI LA USANO</a:t>
                </a:r>
              </a:p>
              <a:p>
                <a:pPr marL="914400" lvl="1" indent="-457200" algn="just">
                  <a:buFont typeface="+mj-lt"/>
                  <a:buAutoNum type="arabicParenR"/>
                </a:pPr>
                <a:r>
                  <a:rPr lang="it-IT" dirty="0">
                    <a:latin typeface="Bierstadt" panose="020B0004020202020204" pitchFamily="34" charset="0"/>
                  </a:rPr>
                  <a:t>PUO’ ESSERE ACCOMPAGNATA A UNA CONOSCENZA LOCALE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220BC7B-77B1-AB04-33B4-7E67A991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10" y="271683"/>
                <a:ext cx="11051458" cy="3768724"/>
              </a:xfrm>
              <a:prstGeom prst="rect">
                <a:avLst/>
              </a:prstGeom>
              <a:blipFill>
                <a:blip r:embed="rId2"/>
                <a:stretch>
                  <a:fillRect l="-441" t="-2589" b="-17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>
            <a:extLst>
              <a:ext uri="{FF2B5EF4-FFF2-40B4-BE49-F238E27FC236}">
                <a16:creationId xmlns:a16="http://schemas.microsoft.com/office/drawing/2014/main" id="{CC9E66AD-8467-8EE5-3BAF-0813EF86C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27" y="5738623"/>
            <a:ext cx="728512" cy="945042"/>
          </a:xfrm>
          <a:prstGeom prst="rect">
            <a:avLst/>
          </a:prstGeom>
        </p:spPr>
      </p:pic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99C8A363-DD58-C9A5-8E60-F7D94CB8F446}"/>
              </a:ext>
            </a:extLst>
          </p:cNvPr>
          <p:cNvCxnSpPr>
            <a:cxnSpLocks/>
            <a:stCxn id="2" idx="0"/>
            <a:endCxn id="4" idx="2"/>
          </p:cNvCxnSpPr>
          <p:nvPr/>
        </p:nvCxnSpPr>
        <p:spPr>
          <a:xfrm flipH="1" flipV="1">
            <a:off x="4256239" y="5207090"/>
            <a:ext cx="1763144" cy="5315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/>
              <p:nvPr/>
            </p:nvSpPr>
            <p:spPr>
              <a:xfrm>
                <a:off x="3048577" y="4873088"/>
                <a:ext cx="2415323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0.4, 0.3, 0.1]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B74DDE9-42EC-D7E7-657B-01806A33B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577" y="4873088"/>
                <a:ext cx="2415323" cy="334002"/>
              </a:xfrm>
              <a:prstGeom prst="rect">
                <a:avLst/>
              </a:prstGeom>
              <a:blipFill>
                <a:blip r:embed="rId5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/>
              <p:nvPr/>
            </p:nvSpPr>
            <p:spPr>
              <a:xfrm>
                <a:off x="6482231" y="4840454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5B215F9-B4BE-8173-CBCB-3084322C1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231" y="4840454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 b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D79DA82-381A-AAC7-1467-0CF84584E67D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 flipV="1">
            <a:off x="6019383" y="5189845"/>
            <a:ext cx="1839476" cy="5487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39DC4A2E-7D05-48A4-FA46-55038F1FC6C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524"/>
          <a:stretch/>
        </p:blipFill>
        <p:spPr>
          <a:xfrm>
            <a:off x="9924792" y="4238523"/>
            <a:ext cx="1936189" cy="211058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1723D0C-C55C-A26C-8579-2DDC557CD0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20" y="4759633"/>
            <a:ext cx="2538258" cy="126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07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637731" y="1641143"/>
            <a:ext cx="8352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MECCANISMO DI SCELTA DEL PERCORSO DI UN QUALSIASI AGENTE</a:t>
            </a:r>
          </a:p>
          <a:p>
            <a:pPr algn="ctr"/>
            <a:r>
              <a:rPr lang="it-IT" sz="3600" dirty="0">
                <a:latin typeface="Bierstadt" panose="020B0004020202020204" pitchFamily="34" charset="0"/>
              </a:rPr>
              <a:t>BASATO SULLA CONOSCENZA</a:t>
            </a:r>
            <a:endParaRPr lang="en-GB" sz="3600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07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42" y="158781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2623853" y="153468"/>
                <a:ext cx="1252901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  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853" y="153468"/>
                <a:ext cx="1252901" cy="334002"/>
              </a:xfrm>
              <a:prstGeom prst="rect">
                <a:avLst/>
              </a:prstGeom>
              <a:blipFill>
                <a:blip r:embed="rId4"/>
                <a:stretch>
                  <a:fillRect b="-175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</p:cNvCxnSpPr>
          <p:nvPr/>
        </p:nvCxnSpPr>
        <p:spPr>
          <a:xfrm flipV="1">
            <a:off x="2156850" y="260389"/>
            <a:ext cx="345781" cy="39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8837110" y="113690"/>
                <a:ext cx="3262374" cy="37752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1) LA CONOSCENZA PREGRESSA NON C’E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disertori, solo a t = 0, e cioè quando gli agenti sono sull’entrata. In questo caso gli agenti non hanno ancora percorso alcun link e perciò non hanno alcuna memoria pregressa. 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Tutti i link collegati all’entrata hanno la stessa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= 1 indipendentemente dal loro peso. 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Gli agenti memorizzeranno il loro peso solo dopo aver attraversato il link.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110" y="113690"/>
                <a:ext cx="3262374" cy="3775264"/>
              </a:xfrm>
              <a:prstGeom prst="rect">
                <a:avLst/>
              </a:prstGeom>
              <a:blipFill>
                <a:blip r:embed="rId5"/>
                <a:stretch>
                  <a:fillRect l="-372" t="-161" r="-372" b="-6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113BE42-3FC6-D0C4-A18A-937340B84A29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B3D50DA6-53D9-A4DC-10D2-53A16FB7630C}"/>
              </a:ext>
            </a:extLst>
          </p:cNvPr>
          <p:cNvCxnSpPr>
            <a:cxnSpLocks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D0987DD0-F03F-9764-454B-56BD194717B4}"/>
              </a:ext>
            </a:extLst>
          </p:cNvPr>
          <p:cNvCxnSpPr>
            <a:cxnSpLocks/>
          </p:cNvCxnSpPr>
          <p:nvPr/>
        </p:nvCxnSpPr>
        <p:spPr>
          <a:xfrm flipV="1">
            <a:off x="257960" y="1047142"/>
            <a:ext cx="1579926" cy="77045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8EACD21-FA69-8221-ABEC-B6AFF10F21E6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0</a:t>
            </a:r>
            <a:endParaRPr lang="en-GB" dirty="0">
              <a:latin typeface="Bierstadt" panose="020B00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5306791-5834-85B5-E765-4454DCF46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550" y="5055839"/>
            <a:ext cx="4190315" cy="16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0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83" y="1723353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0.9]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216490" y="513515"/>
            <a:ext cx="480269" cy="1221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7726414" y="113690"/>
                <a:ext cx="4373071" cy="40426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2) LA CONOSCENZA PREGRESSA C’E MA GLI AGENTI NON LA USANO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 quando, trovandosi su un nodo e dovendo scegliere un percorso, hanno le informazioni relative ai pesi di tutti i link che possono percorrere. 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In questo caso l’agente vede 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0.7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0.7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0.8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0.8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0.1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0.1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e sarà più probabile che sceglierà il link con peso 0.1 dato che ha desiderabilità più alta. 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In questo caso, 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= 1/ </a:t>
                </a:r>
                <a:r>
                  <a:rPr lang="it-IT" sz="1400" b="1" i="1" dirty="0">
                    <a:latin typeface="Bierstadt" panose="020B0004020202020204" pitchFamily="34" charset="0"/>
                  </a:rPr>
                  <a:t>w</a:t>
                </a:r>
                <a:r>
                  <a:rPr lang="it-IT" sz="1400" b="1" i="1" baseline="-25000" dirty="0">
                    <a:latin typeface="Bierstadt" panose="020B0004020202020204" pitchFamily="34" charset="0"/>
                  </a:rPr>
                  <a:t>ij</a:t>
                </a:r>
                <a:endParaRPr lang="it-IT" sz="1400" b="1" dirty="0">
                  <a:latin typeface="Bierstadt" panose="020B0004020202020204" pitchFamily="34" charset="0"/>
                </a:endParaRP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14" y="113690"/>
                <a:ext cx="4373071" cy="4042645"/>
              </a:xfrm>
              <a:prstGeom prst="rect">
                <a:avLst/>
              </a:prstGeom>
              <a:blipFill>
                <a:blip r:embed="rId5"/>
                <a:stretch>
                  <a:fillRect l="-278" t="-150" r="-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F6BBA4B2-ABA7-C0C5-8E93-3E0BA4CAA07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AF45F54C-1737-6F63-9108-AC6987941CC1}"/>
              </a:ext>
            </a:extLst>
          </p:cNvPr>
          <p:cNvSpPr/>
          <p:nvPr/>
        </p:nvSpPr>
        <p:spPr>
          <a:xfrm>
            <a:off x="5251543" y="2420951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B55C38C-3E7F-46DF-11AF-351500691AD2}"/>
              </a:ext>
            </a:extLst>
          </p:cNvPr>
          <p:cNvSpPr/>
          <p:nvPr/>
        </p:nvSpPr>
        <p:spPr>
          <a:xfrm>
            <a:off x="5251237" y="2608045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F71C6AB-26AA-1F55-77B1-78888E9DA60F}"/>
              </a:ext>
            </a:extLst>
          </p:cNvPr>
          <p:cNvSpPr/>
          <p:nvPr/>
        </p:nvSpPr>
        <p:spPr>
          <a:xfrm>
            <a:off x="4845627" y="2588125"/>
            <a:ext cx="150149" cy="65126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CC339FA8-872D-6B1D-5D76-45EF90B58C7B}"/>
              </a:ext>
            </a:extLst>
          </p:cNvPr>
          <p:cNvSpPr/>
          <p:nvPr/>
        </p:nvSpPr>
        <p:spPr>
          <a:xfrm>
            <a:off x="7887375" y="2355825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B8962B74-CC13-52BD-6663-E96475E67424}"/>
              </a:ext>
            </a:extLst>
          </p:cNvPr>
          <p:cNvSpPr/>
          <p:nvPr/>
        </p:nvSpPr>
        <p:spPr>
          <a:xfrm>
            <a:off x="7887375" y="2608045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73E9DE9B-ADA9-431C-A140-97C2705BB7C9}"/>
              </a:ext>
            </a:extLst>
          </p:cNvPr>
          <p:cNvSpPr/>
          <p:nvPr/>
        </p:nvSpPr>
        <p:spPr>
          <a:xfrm>
            <a:off x="7887375" y="2837958"/>
            <a:ext cx="150149" cy="65126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/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A16D68A-761F-7877-183C-7E139346CA9A}"/>
              </a:ext>
            </a:extLst>
          </p:cNvPr>
          <p:cNvCxnSpPr>
            <a:cxnSpLocks/>
            <a:stCxn id="231" idx="2"/>
            <a:endCxn id="25" idx="0"/>
          </p:cNvCxnSpPr>
          <p:nvPr/>
        </p:nvCxnSpPr>
        <p:spPr>
          <a:xfrm>
            <a:off x="5151839" y="2668395"/>
            <a:ext cx="52519" cy="7662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4B40F23D-6D77-D45A-7642-6BC0D291A73D}"/>
              </a:ext>
            </a:extLst>
          </p:cNvPr>
          <p:cNvCxnSpPr>
            <a:cxnSpLocks/>
            <a:endCxn id="70" idx="5"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Elemento grafico 38" descr="Occhio con riempimento a tinta unita">
            <a:extLst>
              <a:ext uri="{FF2B5EF4-FFF2-40B4-BE49-F238E27FC236}">
                <a16:creationId xmlns:a16="http://schemas.microsoft.com/office/drawing/2014/main" id="{5D3A498C-D199-3FD5-8743-D80732BB33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7146" y="2538763"/>
            <a:ext cx="324453" cy="324453"/>
          </a:xfrm>
          <a:prstGeom prst="rect">
            <a:avLst/>
          </a:prstGeom>
        </p:spPr>
      </p:pic>
      <p:pic>
        <p:nvPicPr>
          <p:cNvPr id="40" name="Elemento grafico 39" descr="Occhio con riempimento a tinta unita">
            <a:extLst>
              <a:ext uri="{FF2B5EF4-FFF2-40B4-BE49-F238E27FC236}">
                <a16:creationId xmlns:a16="http://schemas.microsoft.com/office/drawing/2014/main" id="{2A76161C-EC3E-4D56-260E-7ECC975FFF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0016" y="1676902"/>
            <a:ext cx="324453" cy="324453"/>
          </a:xfrm>
          <a:prstGeom prst="rect">
            <a:avLst/>
          </a:prstGeom>
        </p:spPr>
      </p:pic>
      <p:pic>
        <p:nvPicPr>
          <p:cNvPr id="41" name="Elemento grafico 40" descr="Occhio con riempimento a tinta unita">
            <a:extLst>
              <a:ext uri="{FF2B5EF4-FFF2-40B4-BE49-F238E27FC236}">
                <a16:creationId xmlns:a16="http://schemas.microsoft.com/office/drawing/2014/main" id="{35BE4AD2-8392-7891-C199-97133625C1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1279" y="2636508"/>
            <a:ext cx="324453" cy="324453"/>
          </a:xfrm>
          <a:prstGeom prst="rect">
            <a:avLst/>
          </a:prstGeom>
        </p:spPr>
      </p:pic>
      <p:pic>
        <p:nvPicPr>
          <p:cNvPr id="42" name="Elemento grafico 41" descr="Occhio con riempimento a tinta unita">
            <a:extLst>
              <a:ext uri="{FF2B5EF4-FFF2-40B4-BE49-F238E27FC236}">
                <a16:creationId xmlns:a16="http://schemas.microsoft.com/office/drawing/2014/main" id="{60B62672-72D3-69B5-2AEB-A5B3702A3E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46293" y="1828708"/>
            <a:ext cx="324453" cy="324453"/>
          </a:xfrm>
          <a:prstGeom prst="rect">
            <a:avLst/>
          </a:prstGeom>
        </p:spPr>
      </p:pic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F65F0B77-5506-746E-4791-AEE5902E4A02}"/>
              </a:ext>
            </a:extLst>
          </p:cNvPr>
          <p:cNvCxnSpPr>
            <a:cxnSpLocks/>
          </p:cNvCxnSpPr>
          <p:nvPr/>
        </p:nvCxnSpPr>
        <p:spPr>
          <a:xfrm flipH="1" flipV="1">
            <a:off x="3684078" y="1854378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D9EDE5D-F483-4541-5B8E-88FB34AED561}"/>
              </a:ext>
            </a:extLst>
          </p:cNvPr>
          <p:cNvSpPr txBox="1"/>
          <p:nvPr/>
        </p:nvSpPr>
        <p:spPr>
          <a:xfrm>
            <a:off x="5516095" y="87201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5D8D07FE-0B79-D5FF-ACEA-03C8DD4C93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550" y="5055839"/>
            <a:ext cx="4190315" cy="1667211"/>
          </a:xfrm>
          <a:prstGeom prst="rect">
            <a:avLst/>
          </a:prstGeom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41E6ECA2-4AC3-4D26-0799-5CBEE734D6FD}"/>
              </a:ext>
            </a:extLst>
          </p:cNvPr>
          <p:cNvSpPr/>
          <p:nvPr/>
        </p:nvSpPr>
        <p:spPr>
          <a:xfrm>
            <a:off x="965037" y="6156730"/>
            <a:ext cx="150149" cy="65126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B48985CC-81BE-7E8A-0177-E9160C33E5F1}"/>
              </a:ext>
            </a:extLst>
          </p:cNvPr>
          <p:cNvSpPr/>
          <p:nvPr/>
        </p:nvSpPr>
        <p:spPr>
          <a:xfrm>
            <a:off x="1492796" y="6156730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10645BC-CAE0-F191-9514-7055D20F9F59}"/>
              </a:ext>
            </a:extLst>
          </p:cNvPr>
          <p:cNvSpPr/>
          <p:nvPr/>
        </p:nvSpPr>
        <p:spPr>
          <a:xfrm>
            <a:off x="1229738" y="6163496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AE8BFD8-B90B-B47B-87B8-2FD0225879F9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463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83" y="1723353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0.9]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216490" y="513515"/>
            <a:ext cx="480269" cy="1221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7726414" y="113690"/>
                <a:ext cx="4386928" cy="44185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3) LA CONOSCENZA PREGRESSA C’E E GLI AGENTI LA USANO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 quando, trovandosi su un nodo e dovendo scegliere un percorso,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</a:t>
                </a:r>
                <a:r>
                  <a:rPr lang="it-IT" sz="1400" dirty="0">
                    <a:latin typeface="Bierstadt" panose="020B0004020202020204" pitchFamily="34" charset="0"/>
                  </a:rPr>
                  <a:t> hanno le informazioni relative ai pesi di tutti i link che possono percorrere perché da quei link non è passato nessun collaborativo.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In questo caso l’agente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</a:t>
                </a:r>
                <a:r>
                  <a:rPr lang="it-IT" sz="1400" dirty="0">
                    <a:latin typeface="Bierstadt" panose="020B0004020202020204" pitchFamily="34" charset="0"/>
                  </a:rPr>
                  <a:t> vede 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0.7 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0.8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0.1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L’agente per potere scegliere dove andare deve dare un valore alla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(presente nella regola di transizione) di ogni link. 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 avendo valori reali, farà una stima dei pesi dei link che può percorrere basandosi sulla sua conoscenza pregressa</a:t>
                </a:r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  <a:endParaRPr lang="it-IT" sz="1400" b="1" dirty="0">
                  <a:latin typeface="Bierstadt" panose="020B0004020202020204" pitchFamily="34" charset="0"/>
                </a:endParaRP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14" y="113690"/>
                <a:ext cx="4386928" cy="4418517"/>
              </a:xfrm>
              <a:prstGeom prst="rect">
                <a:avLst/>
              </a:prstGeom>
              <a:blipFill>
                <a:blip r:embed="rId5"/>
                <a:stretch>
                  <a:fillRect l="-277" t="-138" r="-277" b="-4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F6BBA4B2-ABA7-C0C5-8E93-3E0BA4CAA07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/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A16D68A-761F-7877-183C-7E139346CA9A}"/>
              </a:ext>
            </a:extLst>
          </p:cNvPr>
          <p:cNvCxnSpPr>
            <a:cxnSpLocks/>
            <a:stCxn id="231" idx="2"/>
            <a:endCxn id="25" idx="0"/>
          </p:cNvCxnSpPr>
          <p:nvPr/>
        </p:nvCxnSpPr>
        <p:spPr>
          <a:xfrm>
            <a:off x="5151839" y="2668395"/>
            <a:ext cx="52519" cy="7662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9A33538D-1311-E926-188C-5456F580E53C}"/>
              </a:ext>
            </a:extLst>
          </p:cNvPr>
          <p:cNvCxnSpPr>
            <a:cxnSpLocks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3C5A655-8837-1295-3C4E-A85C27E19217}"/>
              </a:ext>
            </a:extLst>
          </p:cNvPr>
          <p:cNvCxnSpPr>
            <a:cxnSpLocks/>
          </p:cNvCxnSpPr>
          <p:nvPr/>
        </p:nvCxnSpPr>
        <p:spPr>
          <a:xfrm flipH="1" flipV="1">
            <a:off x="3664888" y="18411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654C081-8F98-E663-84A0-CABE21D0893B}"/>
              </a:ext>
            </a:extLst>
          </p:cNvPr>
          <p:cNvCxnSpPr>
            <a:cxnSpLocks/>
            <a:endCxn id="93" idx="7"/>
          </p:cNvCxnSpPr>
          <p:nvPr/>
        </p:nvCxnSpPr>
        <p:spPr>
          <a:xfrm flipH="1">
            <a:off x="3638204" y="2615029"/>
            <a:ext cx="1309980" cy="642758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D4F606DF-CC17-E0BC-DA6F-5DBE22F42E9E}"/>
              </a:ext>
            </a:extLst>
          </p:cNvPr>
          <p:cNvCxnSpPr>
            <a:cxnSpLocks/>
          </p:cNvCxnSpPr>
          <p:nvPr/>
        </p:nvCxnSpPr>
        <p:spPr>
          <a:xfrm>
            <a:off x="5238915" y="2620676"/>
            <a:ext cx="1249202" cy="609629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AD054F5C-0ED8-6446-4F5E-CC0DEA2A0C6C}"/>
              </a:ext>
            </a:extLst>
          </p:cNvPr>
          <p:cNvCxnSpPr>
            <a:cxnSpLocks/>
            <a:endCxn id="114" idx="3"/>
          </p:cNvCxnSpPr>
          <p:nvPr/>
        </p:nvCxnSpPr>
        <p:spPr>
          <a:xfrm flipV="1">
            <a:off x="5295014" y="1829759"/>
            <a:ext cx="1296962" cy="656070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85AEF68E-74CA-134D-C986-6A33228EF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71" y="2772031"/>
            <a:ext cx="245549" cy="185360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AB582C97-DAD5-3EA1-85BB-05082073B3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75" y="2863905"/>
            <a:ext cx="245549" cy="185360"/>
          </a:xfrm>
          <a:prstGeom prst="rect">
            <a:avLst/>
          </a:prstGeom>
        </p:spPr>
      </p:pic>
      <p:pic>
        <p:nvPicPr>
          <p:cNvPr id="55" name="Immagine 54">
            <a:extLst>
              <a:ext uri="{FF2B5EF4-FFF2-40B4-BE49-F238E27FC236}">
                <a16:creationId xmlns:a16="http://schemas.microsoft.com/office/drawing/2014/main" id="{DC613F5D-2F0A-8E8D-40FB-DC06B533F6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629" y="1931413"/>
            <a:ext cx="245549" cy="185360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FC1D60B3-F83F-2F9A-0320-CE8429B9F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9830" y="2103194"/>
            <a:ext cx="245549" cy="185360"/>
          </a:xfrm>
          <a:prstGeom prst="rect">
            <a:avLst/>
          </a:prstGeom>
        </p:spPr>
      </p:pic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DB0AA094-222C-5561-5BE8-A923CBB7E108}"/>
              </a:ext>
            </a:extLst>
          </p:cNvPr>
          <p:cNvSpPr txBox="1"/>
          <p:nvPr/>
        </p:nvSpPr>
        <p:spPr>
          <a:xfrm>
            <a:off x="5516095" y="87201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66" name="Immagine 65">
            <a:extLst>
              <a:ext uri="{FF2B5EF4-FFF2-40B4-BE49-F238E27FC236}">
                <a16:creationId xmlns:a16="http://schemas.microsoft.com/office/drawing/2014/main" id="{8C2A7BCB-381E-E5AE-DA61-000E8A3A26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5646231-A5EF-92A6-4C2E-CBD518333DBF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1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83" y="1723353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0.9]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759" y="346514"/>
                <a:ext cx="1687115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216490" y="513515"/>
            <a:ext cx="480269" cy="1221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7726414" y="113690"/>
                <a:ext cx="4386928" cy="605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3) LA  CONOSCENZA PREGRESSA C’E E GLI AGENTI LA USANO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 quando, trovandosi su un nodo e dovendo scegliere un percorso,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</a:t>
                </a:r>
                <a:r>
                  <a:rPr lang="it-IT" sz="1400" dirty="0">
                    <a:latin typeface="Bierstadt" panose="020B0004020202020204" pitchFamily="34" charset="0"/>
                  </a:rPr>
                  <a:t> hanno le informazioni relative ai pesi di tutti i link che possono percorrere perché da quei link non è passato nessun collaborativo.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In questo caso l’agente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</a:t>
                </a:r>
                <a:r>
                  <a:rPr lang="it-IT" sz="1400" dirty="0">
                    <a:latin typeface="Bierstadt" panose="020B0004020202020204" pitchFamily="34" charset="0"/>
                  </a:rPr>
                  <a:t> vede 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0.7 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0.8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0.1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L’agente per potere scegliere dove andare deve dare un valore alla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(presente nella regola di transizione) di ogni link.  </a:t>
                </a:r>
                <a:r>
                  <a:rPr lang="it-IT" sz="1400" b="1" dirty="0">
                    <a:latin typeface="Bierstadt" panose="020B0004020202020204" pitchFamily="34" charset="0"/>
                  </a:rPr>
                  <a:t>Non avendo valori reali, farà una stima dei pesi dei link che può percorrere basandosi sulla sua conoscenza pregressa</a:t>
                </a:r>
                <a:r>
                  <a:rPr lang="it-IT" sz="1400" dirty="0">
                    <a:latin typeface="Bierstadt" panose="020B0004020202020204" pitchFamily="34" charset="0"/>
                  </a:rPr>
                  <a:t>. 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Farà quindi una media dei pesi dei link attraversati e stimerà ogni link         avere un peso </a:t>
                </a:r>
                <a:r>
                  <a:rPr lang="it-IT" sz="1400" i="1" dirty="0">
                    <a:latin typeface="Bierstadt" panose="020B0004020202020204" pitchFamily="34" charset="0"/>
                  </a:rPr>
                  <a:t>w</a:t>
                </a:r>
                <a:r>
                  <a:rPr lang="it-IT" sz="1400" i="1" baseline="-25000" dirty="0">
                    <a:latin typeface="Bierstadt" panose="020B0004020202020204" pitchFamily="34" charset="0"/>
                  </a:rPr>
                  <a:t>ij </a:t>
                </a:r>
                <a:r>
                  <a:rPr lang="it-IT" sz="1400" i="1" dirty="0">
                    <a:latin typeface="Bierstadt" panose="020B0004020202020204" pitchFamily="34" charset="0"/>
                  </a:rPr>
                  <a:t>= </a:t>
                </a:r>
                <a:r>
                  <a:rPr lang="it-IT" sz="1400" dirty="0">
                    <a:latin typeface="Bierstadt" panose="020B0004020202020204" pitchFamily="34" charset="0"/>
                  </a:rPr>
                  <a:t>(0.3 + 0.9) / 2 = 0.6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In questo caso, 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it-IT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Sup>
                          <m:sSubSupPr>
                            <m:ctrlPr>
                              <a:rPr lang="en-GB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GB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  <m:sub>
                            <m: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</m:t>
                            </m:r>
                          </m:sub>
                          <m:sup>
                            <m: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  <m:d>
                          <m:dPr>
                            <m:ctrlP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  <m:r>
                      <a:rPr lang="it-IT" sz="1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1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it-IT" sz="1400" b="1" dirty="0">
                  <a:latin typeface="Bierstadt" panose="020B0004020202020204" pitchFamily="34" charset="0"/>
                </a:endParaRP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14" y="113690"/>
                <a:ext cx="4386928" cy="6055760"/>
              </a:xfrm>
              <a:prstGeom prst="rect">
                <a:avLst/>
              </a:prstGeom>
              <a:blipFill>
                <a:blip r:embed="rId5"/>
                <a:stretch>
                  <a:fillRect l="-277" t="-101" r="-277" b="-643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F6BBA4B2-ABA7-C0C5-8E93-3E0BA4CAA07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/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A16D68A-761F-7877-183C-7E139346CA9A}"/>
              </a:ext>
            </a:extLst>
          </p:cNvPr>
          <p:cNvCxnSpPr>
            <a:cxnSpLocks/>
            <a:stCxn id="231" idx="2"/>
            <a:endCxn id="25" idx="0"/>
          </p:cNvCxnSpPr>
          <p:nvPr/>
        </p:nvCxnSpPr>
        <p:spPr>
          <a:xfrm>
            <a:off x="5151839" y="2668395"/>
            <a:ext cx="52519" cy="7662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9A33538D-1311-E926-188C-5456F580E53C}"/>
              </a:ext>
            </a:extLst>
          </p:cNvPr>
          <p:cNvCxnSpPr>
            <a:cxnSpLocks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3C5A655-8837-1295-3C4E-A85C27E19217}"/>
              </a:ext>
            </a:extLst>
          </p:cNvPr>
          <p:cNvCxnSpPr>
            <a:cxnSpLocks/>
          </p:cNvCxnSpPr>
          <p:nvPr/>
        </p:nvCxnSpPr>
        <p:spPr>
          <a:xfrm flipH="1" flipV="1">
            <a:off x="3664888" y="18411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654C081-8F98-E663-84A0-CABE21D0893B}"/>
              </a:ext>
            </a:extLst>
          </p:cNvPr>
          <p:cNvCxnSpPr>
            <a:cxnSpLocks/>
            <a:endCxn id="93" idx="7"/>
          </p:cNvCxnSpPr>
          <p:nvPr/>
        </p:nvCxnSpPr>
        <p:spPr>
          <a:xfrm flipH="1">
            <a:off x="3638204" y="2615029"/>
            <a:ext cx="1309980" cy="642758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D4F606DF-CC17-E0BC-DA6F-5DBE22F42E9E}"/>
              </a:ext>
            </a:extLst>
          </p:cNvPr>
          <p:cNvCxnSpPr>
            <a:cxnSpLocks/>
          </p:cNvCxnSpPr>
          <p:nvPr/>
        </p:nvCxnSpPr>
        <p:spPr>
          <a:xfrm>
            <a:off x="5238915" y="2620676"/>
            <a:ext cx="1249202" cy="609629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AD054F5C-0ED8-6446-4F5E-CC0DEA2A0C6C}"/>
              </a:ext>
            </a:extLst>
          </p:cNvPr>
          <p:cNvCxnSpPr>
            <a:cxnSpLocks/>
            <a:endCxn id="114" idx="3"/>
          </p:cNvCxnSpPr>
          <p:nvPr/>
        </p:nvCxnSpPr>
        <p:spPr>
          <a:xfrm flipV="1">
            <a:off x="5295014" y="1829759"/>
            <a:ext cx="1296962" cy="656070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E48E5AED-D8F6-5668-B98A-2A7A71E2F9BD}"/>
              </a:ext>
            </a:extLst>
          </p:cNvPr>
          <p:cNvCxnSpPr>
            <a:cxnSpLocks/>
          </p:cNvCxnSpPr>
          <p:nvPr/>
        </p:nvCxnSpPr>
        <p:spPr>
          <a:xfrm>
            <a:off x="9167131" y="4995379"/>
            <a:ext cx="168902" cy="0"/>
          </a:xfrm>
          <a:prstGeom prst="line">
            <a:avLst/>
          </a:prstGeom>
          <a:ln w="38100">
            <a:solidFill>
              <a:srgbClr val="FFC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5671481-1479-6164-33B3-F797ED19F13B}"/>
              </a:ext>
            </a:extLst>
          </p:cNvPr>
          <p:cNvSpPr txBox="1"/>
          <p:nvPr/>
        </p:nvSpPr>
        <p:spPr>
          <a:xfrm>
            <a:off x="4042677" y="2442685"/>
            <a:ext cx="619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C000"/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rgbClr val="FFC000"/>
              </a:solidFill>
              <a:latin typeface="Bierstadt" panose="020B00040202020202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66312C9-8414-2E2A-D6D6-4327149B5312}"/>
              </a:ext>
            </a:extLst>
          </p:cNvPr>
          <p:cNvSpPr txBox="1"/>
          <p:nvPr/>
        </p:nvSpPr>
        <p:spPr>
          <a:xfrm>
            <a:off x="5581391" y="1633738"/>
            <a:ext cx="619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C000"/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rgbClr val="FFC000"/>
              </a:solidFill>
              <a:latin typeface="Bierstadt" panose="020B0004020202020204" pitchFamily="34" charset="0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CE5EAA7C-011C-9BB0-1D76-745A33D058CC}"/>
              </a:ext>
            </a:extLst>
          </p:cNvPr>
          <p:cNvSpPr txBox="1"/>
          <p:nvPr/>
        </p:nvSpPr>
        <p:spPr>
          <a:xfrm>
            <a:off x="6247941" y="2587139"/>
            <a:ext cx="619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C000"/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rgbClr val="FFC000"/>
              </a:solidFill>
              <a:latin typeface="Bierstadt" panose="020B0004020202020204" pitchFamily="34" charset="0"/>
            </a:endParaRP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85AEF68E-74CA-134D-C986-6A33228EF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71" y="2772031"/>
            <a:ext cx="245549" cy="185360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AB582C97-DAD5-3EA1-85BB-05082073B3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75" y="2863905"/>
            <a:ext cx="245549" cy="185360"/>
          </a:xfrm>
          <a:prstGeom prst="rect">
            <a:avLst/>
          </a:prstGeom>
        </p:spPr>
      </p:pic>
      <p:pic>
        <p:nvPicPr>
          <p:cNvPr id="55" name="Immagine 54">
            <a:extLst>
              <a:ext uri="{FF2B5EF4-FFF2-40B4-BE49-F238E27FC236}">
                <a16:creationId xmlns:a16="http://schemas.microsoft.com/office/drawing/2014/main" id="{DC613F5D-2F0A-8E8D-40FB-DC06B533F6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629" y="1931413"/>
            <a:ext cx="245549" cy="185360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FC1D60B3-F83F-2F9A-0320-CE8429B9F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9830" y="2103194"/>
            <a:ext cx="245549" cy="185360"/>
          </a:xfrm>
          <a:prstGeom prst="rect">
            <a:avLst/>
          </a:prstGeom>
        </p:spPr>
      </p:pic>
      <p:pic>
        <p:nvPicPr>
          <p:cNvPr id="61" name="Elemento grafico 60" descr="Distribuzione normale con riempimento a tinta unita">
            <a:extLst>
              <a:ext uri="{FF2B5EF4-FFF2-40B4-BE49-F238E27FC236}">
                <a16:creationId xmlns:a16="http://schemas.microsoft.com/office/drawing/2014/main" id="{2FFF259A-DF03-8277-61AA-089131E2DF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3678" y="2179114"/>
            <a:ext cx="386807" cy="386807"/>
          </a:xfrm>
          <a:prstGeom prst="rect">
            <a:avLst/>
          </a:prstGeom>
        </p:spPr>
      </p:pic>
      <p:pic>
        <p:nvPicPr>
          <p:cNvPr id="62" name="Elemento grafico 61" descr="Distribuzione normale con riempimento a tinta unita">
            <a:extLst>
              <a:ext uri="{FF2B5EF4-FFF2-40B4-BE49-F238E27FC236}">
                <a16:creationId xmlns:a16="http://schemas.microsoft.com/office/drawing/2014/main" id="{BCC2D801-FDC3-B953-592C-2E8CAF2BD0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2492" y="1349586"/>
            <a:ext cx="386807" cy="386807"/>
          </a:xfrm>
          <a:prstGeom prst="rect">
            <a:avLst/>
          </a:prstGeom>
        </p:spPr>
      </p:pic>
      <p:pic>
        <p:nvPicPr>
          <p:cNvPr id="63" name="Elemento grafico 62" descr="Distribuzione normale con riempimento a tinta unita">
            <a:extLst>
              <a:ext uri="{FF2B5EF4-FFF2-40B4-BE49-F238E27FC236}">
                <a16:creationId xmlns:a16="http://schemas.microsoft.com/office/drawing/2014/main" id="{0AD7749A-7D78-D570-B7C8-1C1CC54643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1112" y="2323719"/>
            <a:ext cx="386807" cy="386807"/>
          </a:xfrm>
          <a:prstGeom prst="rect">
            <a:avLst/>
          </a:prstGeom>
        </p:spPr>
      </p:pic>
      <p:pic>
        <p:nvPicPr>
          <p:cNvPr id="64" name="Elemento grafico 63" descr="Distribuzione normale con riempimento a tinta unita">
            <a:extLst>
              <a:ext uri="{FF2B5EF4-FFF2-40B4-BE49-F238E27FC236}">
                <a16:creationId xmlns:a16="http://schemas.microsoft.com/office/drawing/2014/main" id="{43B6AEEB-BD20-6376-D9A8-70D5521373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4540" y="5036659"/>
            <a:ext cx="386807" cy="3868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E1A9940-742C-1CA0-B421-837DFF0FC2CC}"/>
              </a:ext>
            </a:extLst>
          </p:cNvPr>
          <p:cNvSpPr txBox="1"/>
          <p:nvPr/>
        </p:nvSpPr>
        <p:spPr>
          <a:xfrm>
            <a:off x="5516095" y="87201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D50990EE-336D-B94B-6A2C-DE75384CE8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A47B7-8421-844A-E858-217351ADF81E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90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83" y="1723353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2541887" y="444877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0.9]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887" y="444877"/>
                <a:ext cx="1687115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  <a:stCxn id="231" idx="0"/>
            <a:endCxn id="32" idx="2"/>
          </p:cNvCxnSpPr>
          <p:nvPr/>
        </p:nvCxnSpPr>
        <p:spPr>
          <a:xfrm flipH="1" flipV="1">
            <a:off x="3385445" y="778879"/>
            <a:ext cx="1766394" cy="944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6967317" y="123964"/>
                <a:ext cx="5145464" cy="48840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3) LA CONOSCENZA PREGRESSA C’E E GLI AGENTI LA USANO ACCOMPAGNATA A UNA CONOSCENZA LOCALE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 quando, trovandosi su un nodo e dovendo scegliere un percorso, hanno SOLO ALCUNE informazioni relative ai pesi dei link che possono percorrere. 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In questo caso l’agente </a:t>
                </a:r>
                <a:r>
                  <a:rPr lang="it-IT" sz="1400" b="1" dirty="0">
                    <a:latin typeface="Bierstadt" panose="020B0004020202020204" pitchFamily="34" charset="0"/>
                  </a:rPr>
                  <a:t>vede </a:t>
                </a:r>
                <a:r>
                  <a:rPr lang="it-IT" sz="1400" dirty="0">
                    <a:latin typeface="Bierstadt" panose="020B0004020202020204" pitchFamily="34" charset="0"/>
                  </a:rPr>
                  <a:t>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0.7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0.7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0.8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0.8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ma</a:t>
                </a:r>
                <a:r>
                  <a:rPr lang="it-IT" sz="1400" b="1" dirty="0">
                    <a:latin typeface="Bierstadt" panose="020B0004020202020204" pitchFamily="34" charset="0"/>
                  </a:rPr>
                  <a:t> NON</a:t>
                </a:r>
                <a:r>
                  <a:rPr lang="it-IT" sz="1400" dirty="0">
                    <a:latin typeface="Bierstadt" panose="020B0004020202020204" pitchFamily="34" charset="0"/>
                  </a:rPr>
                  <a:t> vede 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0.1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L’agente per potere scegliere dove andare deve dare un valore alla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del link        .  </a:t>
                </a:r>
              </a:p>
              <a:p>
                <a:pPr algn="just"/>
                <a:endParaRPr lang="it-IT" sz="1400" b="1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Non avendo un valore reale, farà una stima del peso di questo link basandosi sulla sua conoscenza pregressa e sulla conoscenza locale del peso degli altri due links</a:t>
                </a:r>
                <a:r>
                  <a:rPr lang="it-IT" sz="1400" dirty="0">
                    <a:latin typeface="Bierstadt" panose="020B00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317" y="123964"/>
                <a:ext cx="5145464" cy="4884029"/>
              </a:xfrm>
              <a:prstGeom prst="rect">
                <a:avLst/>
              </a:prstGeom>
              <a:blipFill>
                <a:blip r:embed="rId5"/>
                <a:stretch>
                  <a:fillRect l="-236" r="-236" b="-2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F6BBA4B2-ABA7-C0C5-8E93-3E0BA4CAA07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/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A16D68A-761F-7877-183C-7E139346CA9A}"/>
              </a:ext>
            </a:extLst>
          </p:cNvPr>
          <p:cNvCxnSpPr>
            <a:cxnSpLocks/>
            <a:stCxn id="231" idx="2"/>
            <a:endCxn id="25" idx="0"/>
          </p:cNvCxnSpPr>
          <p:nvPr/>
        </p:nvCxnSpPr>
        <p:spPr>
          <a:xfrm>
            <a:off x="5151839" y="2668395"/>
            <a:ext cx="52519" cy="7662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9A33538D-1311-E926-188C-5456F580E53C}"/>
              </a:ext>
            </a:extLst>
          </p:cNvPr>
          <p:cNvCxnSpPr>
            <a:cxnSpLocks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3C5A655-8837-1295-3C4E-A85C27E19217}"/>
              </a:ext>
            </a:extLst>
          </p:cNvPr>
          <p:cNvCxnSpPr>
            <a:cxnSpLocks/>
          </p:cNvCxnSpPr>
          <p:nvPr/>
        </p:nvCxnSpPr>
        <p:spPr>
          <a:xfrm flipH="1" flipV="1">
            <a:off x="3664888" y="18411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654C081-8F98-E663-84A0-CABE21D0893B}"/>
              </a:ext>
            </a:extLst>
          </p:cNvPr>
          <p:cNvCxnSpPr>
            <a:cxnSpLocks/>
            <a:endCxn id="93" idx="7"/>
          </p:cNvCxnSpPr>
          <p:nvPr/>
        </p:nvCxnSpPr>
        <p:spPr>
          <a:xfrm flipH="1">
            <a:off x="3638204" y="2615029"/>
            <a:ext cx="1309980" cy="642758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E48E5AED-D8F6-5668-B98A-2A7A71E2F9BD}"/>
              </a:ext>
            </a:extLst>
          </p:cNvPr>
          <p:cNvCxnSpPr>
            <a:cxnSpLocks/>
          </p:cNvCxnSpPr>
          <p:nvPr/>
        </p:nvCxnSpPr>
        <p:spPr>
          <a:xfrm>
            <a:off x="8384876" y="3294242"/>
            <a:ext cx="199217" cy="0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85AEF68E-74CA-134D-C986-6A33228EF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71" y="2772031"/>
            <a:ext cx="245549" cy="185360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FC1D60B3-F83F-2F9A-0320-CE8429B9F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648" y="2753536"/>
            <a:ext cx="245549" cy="185360"/>
          </a:xfrm>
          <a:prstGeom prst="rect">
            <a:avLst/>
          </a:pr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0B835A02-23F1-0436-C5E4-A4F29913F0B1}"/>
              </a:ext>
            </a:extLst>
          </p:cNvPr>
          <p:cNvSpPr/>
          <p:nvPr/>
        </p:nvSpPr>
        <p:spPr>
          <a:xfrm>
            <a:off x="5251543" y="2420951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98E30B2-CDDC-4F6E-CEB7-9BC7128F4B3E}"/>
              </a:ext>
            </a:extLst>
          </p:cNvPr>
          <p:cNvSpPr/>
          <p:nvPr/>
        </p:nvSpPr>
        <p:spPr>
          <a:xfrm>
            <a:off x="5251237" y="2608045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AD083CB-CAE5-1642-AD13-21630CCF0D6E}"/>
              </a:ext>
            </a:extLst>
          </p:cNvPr>
          <p:cNvSpPr/>
          <p:nvPr/>
        </p:nvSpPr>
        <p:spPr>
          <a:xfrm>
            <a:off x="7148890" y="2163310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F997E061-F8B9-3D5B-096C-48C8F7A5A0D4}"/>
              </a:ext>
            </a:extLst>
          </p:cNvPr>
          <p:cNvSpPr/>
          <p:nvPr/>
        </p:nvSpPr>
        <p:spPr>
          <a:xfrm>
            <a:off x="7138229" y="2399326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8" name="Elemento grafico 37" descr="Occhio con riempimento a tinta unita">
            <a:extLst>
              <a:ext uri="{FF2B5EF4-FFF2-40B4-BE49-F238E27FC236}">
                <a16:creationId xmlns:a16="http://schemas.microsoft.com/office/drawing/2014/main" id="{056D8B4D-B531-9F31-8540-F3ED72EDCE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78687" y="1601818"/>
            <a:ext cx="324453" cy="324453"/>
          </a:xfrm>
          <a:prstGeom prst="rect">
            <a:avLst/>
          </a:prstGeom>
        </p:spPr>
      </p:pic>
      <p:pic>
        <p:nvPicPr>
          <p:cNvPr id="39" name="Elemento grafico 38" descr="Occhio con riempimento a tinta unita">
            <a:extLst>
              <a:ext uri="{FF2B5EF4-FFF2-40B4-BE49-F238E27FC236}">
                <a16:creationId xmlns:a16="http://schemas.microsoft.com/office/drawing/2014/main" id="{2CF8FE7C-7E1B-F7BC-3689-EDDDEA9C02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4514" y="1698511"/>
            <a:ext cx="324453" cy="324453"/>
          </a:xfrm>
          <a:prstGeom prst="rect">
            <a:avLst/>
          </a:prstGeom>
        </p:spPr>
      </p:pic>
      <p:pic>
        <p:nvPicPr>
          <p:cNvPr id="40" name="Elemento grafico 39" descr="Occhio con riempimento a tinta unita">
            <a:extLst>
              <a:ext uri="{FF2B5EF4-FFF2-40B4-BE49-F238E27FC236}">
                <a16:creationId xmlns:a16="http://schemas.microsoft.com/office/drawing/2014/main" id="{5830FC21-1C94-D35D-7EB3-B7AAF70B40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61918" y="2618415"/>
            <a:ext cx="324453" cy="324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C78EDF7A-D00C-71FF-BB52-92C3213882A6}"/>
                  </a:ext>
                </a:extLst>
              </p:cNvPr>
              <p:cNvSpPr txBox="1"/>
              <p:nvPr/>
            </p:nvSpPr>
            <p:spPr>
              <a:xfrm>
                <a:off x="4864277" y="824110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=[0.7, 0.8]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C78EDF7A-D00C-71FF-BB52-92C321388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277" y="824110"/>
                <a:ext cx="1687115" cy="334002"/>
              </a:xfrm>
              <a:prstGeom prst="rect">
                <a:avLst/>
              </a:prstGeom>
              <a:blipFill>
                <a:blip r:embed="rId11"/>
                <a:stretch>
                  <a:fillRect b="-35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97E923D7-1E8F-7A8C-034A-E412327AB496}"/>
              </a:ext>
            </a:extLst>
          </p:cNvPr>
          <p:cNvCxnSpPr>
            <a:cxnSpLocks/>
            <a:stCxn id="231" idx="0"/>
            <a:endCxn id="42" idx="2"/>
          </p:cNvCxnSpPr>
          <p:nvPr/>
        </p:nvCxnSpPr>
        <p:spPr>
          <a:xfrm flipV="1">
            <a:off x="5151839" y="1158112"/>
            <a:ext cx="555996" cy="565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2EB2BB39-E50A-E6F5-3C55-977EB4B2CAAE}"/>
              </a:ext>
            </a:extLst>
          </p:cNvPr>
          <p:cNvSpPr txBox="1"/>
          <p:nvPr/>
        </p:nvSpPr>
        <p:spPr>
          <a:xfrm>
            <a:off x="4842325" y="494678"/>
            <a:ext cx="1808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LOCALE</a:t>
            </a:r>
            <a:endParaRPr lang="it-IT" sz="1100" b="1" i="1" dirty="0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AEE34863-0472-36D7-42D5-5D271BFC1DFB}"/>
              </a:ext>
            </a:extLst>
          </p:cNvPr>
          <p:cNvSpPr txBox="1"/>
          <p:nvPr/>
        </p:nvSpPr>
        <p:spPr>
          <a:xfrm>
            <a:off x="2312326" y="144492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154DE5B0-6762-EFC6-CAED-D92F444429CE}"/>
              </a:ext>
            </a:extLst>
          </p:cNvPr>
          <p:cNvCxnSpPr>
            <a:cxnSpLocks/>
          </p:cNvCxnSpPr>
          <p:nvPr/>
        </p:nvCxnSpPr>
        <p:spPr>
          <a:xfrm>
            <a:off x="9304191" y="3957351"/>
            <a:ext cx="199217" cy="0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Immagine 47">
            <a:extLst>
              <a:ext uri="{FF2B5EF4-FFF2-40B4-BE49-F238E27FC236}">
                <a16:creationId xmlns:a16="http://schemas.microsoft.com/office/drawing/2014/main" id="{B0D1C7BE-AB22-9E53-B1C3-D4366FB792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526E276-880B-34C4-80D1-649998BBDA03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176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83" y="1723353"/>
            <a:ext cx="728512" cy="945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AAF250-C99B-B371-649C-4BF46A217CF8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852722-15C1-2625-A728-D6B9D729D012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E85567-3E8B-5090-7FEE-75464C227BBE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EE22C65-AF1D-EA7A-ECEE-A91A5751CEB4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7599887-4348-B604-5594-9A8F9059CC91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DFA95E-B80D-08F0-7F18-6991D539640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0FAEE5-824C-8959-DF55-2BFDDDF76D95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2D4F426-2E71-806A-ABEB-DA9EAC9C352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62BDD24-0E04-EB43-1FD0-4BB4E1EE55B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C95C305-66CE-261D-4A6A-2A1FD3CD02D3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E5FD206-A3B3-9E52-8B5A-3B465274DDE4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C95CDB0-D68E-6F0D-A36A-95EACA260B01}"/>
              </a:ext>
            </a:extLst>
          </p:cNvPr>
          <p:cNvSpPr txBox="1"/>
          <p:nvPr/>
        </p:nvSpPr>
        <p:spPr>
          <a:xfrm>
            <a:off x="727086" y="112581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Bierstadt" panose="020B0004020202020204" pitchFamily="34" charset="0"/>
              </a:rPr>
              <a:t>0.6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/>
              <p:nvPr/>
            </p:nvSpPr>
            <p:spPr>
              <a:xfrm>
                <a:off x="2541887" y="444877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=[0.3, 0.9]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39D988FF-8A7E-6272-D7B6-B89081B8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887" y="444877"/>
                <a:ext cx="1687115" cy="334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84E822A-BD54-2470-CF91-1307F7FF2FC8}"/>
              </a:ext>
            </a:extLst>
          </p:cNvPr>
          <p:cNvCxnSpPr>
            <a:cxnSpLocks/>
            <a:stCxn id="231" idx="0"/>
            <a:endCxn id="32" idx="2"/>
          </p:cNvCxnSpPr>
          <p:nvPr/>
        </p:nvCxnSpPr>
        <p:spPr>
          <a:xfrm flipH="1" flipV="1">
            <a:off x="3385445" y="778879"/>
            <a:ext cx="1766394" cy="944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/>
              <p:nvPr/>
            </p:nvSpPr>
            <p:spPr>
              <a:xfrm>
                <a:off x="6967317" y="123964"/>
                <a:ext cx="5145464" cy="68194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3) LA CONOSCENZA PREGRESSA C’E E GLI AGENTI LA USANO ACCOMPAGNATA A UNA CONOSCENZA LOCALE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Questo caso si verifica per tutti gli agenti, siano essi collaborativi o disertori quando, trovandosi su un nodo e dovendo scegliere un percorso, hanno SOLO ALCUNE informazioni relative ai pesi dei link che possono percorrere. 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In questo caso l’agente </a:t>
                </a:r>
                <a:r>
                  <a:rPr lang="it-IT" sz="1400" b="1" dirty="0">
                    <a:latin typeface="Bierstadt" panose="020B0004020202020204" pitchFamily="34" charset="0"/>
                  </a:rPr>
                  <a:t>vede </a:t>
                </a:r>
                <a:r>
                  <a:rPr lang="it-IT" sz="1400" dirty="0">
                    <a:latin typeface="Bierstadt" panose="020B0004020202020204" pitchFamily="34" charset="0"/>
                  </a:rPr>
                  <a:t>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0.7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0.7</a:t>
                </a: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         =  0.8  e il link ha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= 1 / 0.8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ma</a:t>
                </a:r>
                <a:r>
                  <a:rPr lang="it-IT" sz="1400" b="1" dirty="0">
                    <a:latin typeface="Bierstadt" panose="020B0004020202020204" pitchFamily="34" charset="0"/>
                  </a:rPr>
                  <a:t> NON</a:t>
                </a:r>
                <a:r>
                  <a:rPr lang="it-IT" sz="1400" dirty="0">
                    <a:latin typeface="Bierstadt" panose="020B0004020202020204" pitchFamily="34" charset="0"/>
                  </a:rPr>
                  <a:t> vede che: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Un link pesa 0.1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dirty="0">
                    <a:latin typeface="Bierstadt" panose="020B0004020202020204" pitchFamily="34" charset="0"/>
                  </a:rPr>
                  <a:t>L’agente per potere scegliere dove andare deve dare un valore alla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del link        .  </a:t>
                </a:r>
              </a:p>
              <a:p>
                <a:pPr algn="just"/>
                <a:endParaRPr lang="it-IT" sz="1400" b="1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Non avendo un valore reale, farà una stima del peso di questo link basandosi sulla sua conoscenza pregressa e sulla conoscenza locale del peso degli altri due links</a:t>
                </a:r>
                <a:r>
                  <a:rPr lang="it-IT" sz="1400" dirty="0">
                    <a:latin typeface="Bierstadt" panose="020B0004020202020204" pitchFamily="34" charset="0"/>
                  </a:rPr>
                  <a:t>. Farà quindi una media tra le due conoscenze: quella pregressa dei pesi dei link attraversati e quella locale dei pesi dei links di cui conosce il peso e stimerà il peso del  link       </a:t>
                </a:r>
              </a:p>
              <a:p>
                <a:pPr algn="just"/>
                <a:r>
                  <a:rPr lang="it-IT" sz="1400" i="1" dirty="0">
                    <a:latin typeface="Bierstadt" panose="020B0004020202020204" pitchFamily="34" charset="0"/>
                  </a:rPr>
                  <a:t>w</a:t>
                </a:r>
                <a:r>
                  <a:rPr lang="it-IT" sz="1400" i="1" baseline="-25000" dirty="0">
                    <a:latin typeface="Bierstadt" panose="020B0004020202020204" pitchFamily="34" charset="0"/>
                  </a:rPr>
                  <a:t>ij </a:t>
                </a:r>
                <a:r>
                  <a:rPr lang="it-IT" sz="1400" i="1" dirty="0">
                    <a:latin typeface="Bierstadt" panose="020B0004020202020204" pitchFamily="34" charset="0"/>
                  </a:rPr>
                  <a:t>=</a:t>
                </a:r>
                <a:r>
                  <a:rPr lang="it-IT" sz="1400" dirty="0">
                    <a:latin typeface="Bierstadt" panose="020B0004020202020204" pitchFamily="34" charset="0"/>
                  </a:rPr>
                  <a:t>{</a:t>
                </a:r>
                <a:r>
                  <a:rPr lang="it-IT" sz="1400" i="1" dirty="0">
                    <a:latin typeface="Bierstadt" panose="020B0004020202020204" pitchFamily="34" charset="0"/>
                  </a:rPr>
                  <a:t> </a:t>
                </a:r>
                <a:r>
                  <a:rPr lang="it-IT" sz="1400" dirty="0">
                    <a:latin typeface="Bierstadt" panose="020B0004020202020204" pitchFamily="34" charset="0"/>
                  </a:rPr>
                  <a:t>[(0.3 + 0.9) / 2 ] + [(0.7 + 0.8) / 2 ] / 2}  = 0.7</a:t>
                </a:r>
              </a:p>
              <a:p>
                <a:pPr algn="just"/>
                <a:endParaRPr lang="it-IT" sz="1400" dirty="0">
                  <a:latin typeface="Bierstadt" panose="020B0004020202020204" pitchFamily="34" charset="0"/>
                </a:endParaRPr>
              </a:p>
              <a:p>
                <a:pPr algn="just"/>
                <a:r>
                  <a:rPr lang="it-IT" sz="1400" b="1" dirty="0">
                    <a:latin typeface="Bierstadt" panose="020B0004020202020204" pitchFamily="34" charset="0"/>
                  </a:rPr>
                  <a:t>In questo caso, la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𝜼</m:t>
                        </m:r>
                      </m:e>
                      <m:sub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it-IT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den>
                    </m:f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 con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it-IT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type m:val="lin"/>
                        <m:ctrlP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it-IT" sz="1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it-IT" sz="1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  <m:sub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  <m:sup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it-IT" sz="1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it-IT" sz="1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400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  <m:sub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  <m:sup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b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it-IT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  <m:r>
                      <a:rPr lang="it-IT" sz="1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1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 conoscenza pregressa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it-IT" sz="1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1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1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1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it-IT" sz="1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it-IT" sz="1400" b="1" dirty="0">
                    <a:latin typeface="Bierstadt" panose="020B0004020202020204" pitchFamily="34" charset="0"/>
                  </a:rPr>
                  <a:t> conoscenza locale.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EE8FFE8-E9B7-E98D-ABF9-387207B0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317" y="123964"/>
                <a:ext cx="5145464" cy="6819431"/>
              </a:xfrm>
              <a:prstGeom prst="rect">
                <a:avLst/>
              </a:prstGeom>
              <a:blipFill>
                <a:blip r:embed="rId5"/>
                <a:stretch>
                  <a:fillRect l="-236" r="-473" b="-55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F6BBA4B2-ABA7-C0C5-8E93-3E0BA4CAA07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/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4E083234-09F8-9224-F558-5BFBF2B7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30" y="3434678"/>
                <a:ext cx="2753256" cy="349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8A16D68A-761F-7877-183C-7E139346CA9A}"/>
              </a:ext>
            </a:extLst>
          </p:cNvPr>
          <p:cNvCxnSpPr>
            <a:cxnSpLocks/>
            <a:stCxn id="231" idx="2"/>
            <a:endCxn id="25" idx="0"/>
          </p:cNvCxnSpPr>
          <p:nvPr/>
        </p:nvCxnSpPr>
        <p:spPr>
          <a:xfrm>
            <a:off x="5151839" y="2668395"/>
            <a:ext cx="52519" cy="7662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9A33538D-1311-E926-188C-5456F580E53C}"/>
              </a:ext>
            </a:extLst>
          </p:cNvPr>
          <p:cNvCxnSpPr>
            <a:cxnSpLocks/>
          </p:cNvCxnSpPr>
          <p:nvPr/>
        </p:nvCxnSpPr>
        <p:spPr>
          <a:xfrm flipH="1" flipV="1">
            <a:off x="2076977" y="10426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3C5A655-8837-1295-3C4E-A85C27E19217}"/>
              </a:ext>
            </a:extLst>
          </p:cNvPr>
          <p:cNvCxnSpPr>
            <a:cxnSpLocks/>
          </p:cNvCxnSpPr>
          <p:nvPr/>
        </p:nvCxnSpPr>
        <p:spPr>
          <a:xfrm flipH="1" flipV="1">
            <a:off x="3664888" y="1841187"/>
            <a:ext cx="1308468" cy="6527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654C081-8F98-E663-84A0-CABE21D0893B}"/>
              </a:ext>
            </a:extLst>
          </p:cNvPr>
          <p:cNvCxnSpPr>
            <a:cxnSpLocks/>
            <a:endCxn id="93" idx="7"/>
          </p:cNvCxnSpPr>
          <p:nvPr/>
        </p:nvCxnSpPr>
        <p:spPr>
          <a:xfrm flipH="1">
            <a:off x="3638204" y="2615029"/>
            <a:ext cx="1309980" cy="642758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E48E5AED-D8F6-5668-B98A-2A7A71E2F9BD}"/>
              </a:ext>
            </a:extLst>
          </p:cNvPr>
          <p:cNvCxnSpPr>
            <a:cxnSpLocks/>
          </p:cNvCxnSpPr>
          <p:nvPr/>
        </p:nvCxnSpPr>
        <p:spPr>
          <a:xfrm>
            <a:off x="8384876" y="3294242"/>
            <a:ext cx="199217" cy="0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85AEF68E-74CA-134D-C986-6A33228EF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71" y="2772031"/>
            <a:ext cx="245549" cy="185360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FC1D60B3-F83F-2F9A-0320-CE8429B9F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724" b="96931" l="2683" r="96707">
                        <a14:foregroundMark x1="7073" y1="47496" x2="7073" y2="47496"/>
                        <a14:foregroundMark x1="2683" y1="51535" x2="2683" y2="51535"/>
                        <a14:foregroundMark x1="92439" y1="52019" x2="92439" y2="52019"/>
                        <a14:foregroundMark x1="97073" y1="50565" x2="97073" y2="50565"/>
                        <a14:foregroundMark x1="81829" y1="8724" x2="81829" y2="8724"/>
                        <a14:foregroundMark x1="19878" y1="92407" x2="19878" y2="92407"/>
                        <a14:foregroundMark x1="18537" y1="96931" x2="18537" y2="969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648" y="2753536"/>
            <a:ext cx="245549" cy="185360"/>
          </a:xfrm>
          <a:prstGeom prst="rect">
            <a:avLst/>
          </a:pr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0B835A02-23F1-0436-C5E4-A4F29913F0B1}"/>
              </a:ext>
            </a:extLst>
          </p:cNvPr>
          <p:cNvSpPr/>
          <p:nvPr/>
        </p:nvSpPr>
        <p:spPr>
          <a:xfrm>
            <a:off x="5251543" y="2420951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98E30B2-CDDC-4F6E-CEB7-9BC7128F4B3E}"/>
              </a:ext>
            </a:extLst>
          </p:cNvPr>
          <p:cNvSpPr/>
          <p:nvPr/>
        </p:nvSpPr>
        <p:spPr>
          <a:xfrm>
            <a:off x="5251237" y="2608045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AD083CB-CAE5-1642-AD13-21630CCF0D6E}"/>
              </a:ext>
            </a:extLst>
          </p:cNvPr>
          <p:cNvSpPr/>
          <p:nvPr/>
        </p:nvSpPr>
        <p:spPr>
          <a:xfrm>
            <a:off x="7148890" y="2163310"/>
            <a:ext cx="150149" cy="65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F997E061-F8B9-3D5B-096C-48C8F7A5A0D4}"/>
              </a:ext>
            </a:extLst>
          </p:cNvPr>
          <p:cNvSpPr/>
          <p:nvPr/>
        </p:nvSpPr>
        <p:spPr>
          <a:xfrm>
            <a:off x="7138229" y="2399326"/>
            <a:ext cx="150149" cy="65126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8" name="Elemento grafico 37" descr="Occhio con riempimento a tinta unita">
            <a:extLst>
              <a:ext uri="{FF2B5EF4-FFF2-40B4-BE49-F238E27FC236}">
                <a16:creationId xmlns:a16="http://schemas.microsoft.com/office/drawing/2014/main" id="{056D8B4D-B531-9F31-8540-F3ED72EDCE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78687" y="1601818"/>
            <a:ext cx="324453" cy="324453"/>
          </a:xfrm>
          <a:prstGeom prst="rect">
            <a:avLst/>
          </a:prstGeom>
        </p:spPr>
      </p:pic>
      <p:pic>
        <p:nvPicPr>
          <p:cNvPr id="39" name="Elemento grafico 38" descr="Occhio con riempimento a tinta unita">
            <a:extLst>
              <a:ext uri="{FF2B5EF4-FFF2-40B4-BE49-F238E27FC236}">
                <a16:creationId xmlns:a16="http://schemas.microsoft.com/office/drawing/2014/main" id="{2CF8FE7C-7E1B-F7BC-3689-EDDDEA9C02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4514" y="1698511"/>
            <a:ext cx="324453" cy="324453"/>
          </a:xfrm>
          <a:prstGeom prst="rect">
            <a:avLst/>
          </a:prstGeom>
        </p:spPr>
      </p:pic>
      <p:pic>
        <p:nvPicPr>
          <p:cNvPr id="40" name="Elemento grafico 39" descr="Occhio con riempimento a tinta unita">
            <a:extLst>
              <a:ext uri="{FF2B5EF4-FFF2-40B4-BE49-F238E27FC236}">
                <a16:creationId xmlns:a16="http://schemas.microsoft.com/office/drawing/2014/main" id="{5830FC21-1C94-D35D-7EB3-B7AAF70B40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61918" y="2618415"/>
            <a:ext cx="324453" cy="324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C78EDF7A-D00C-71FF-BB52-92C3213882A6}"/>
                  </a:ext>
                </a:extLst>
              </p:cNvPr>
              <p:cNvSpPr txBox="1"/>
              <p:nvPr/>
            </p:nvSpPr>
            <p:spPr>
              <a:xfrm>
                <a:off x="4864277" y="824110"/>
                <a:ext cx="1687115" cy="3340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=[0.7, 0.8]</m:t>
                      </m:r>
                    </m:oMath>
                  </m:oMathPara>
                </a14:m>
                <a:endParaRPr lang="en-GB" sz="1400" dirty="0">
                  <a:solidFill>
                    <a:schemeClr val="tx1"/>
                  </a:solidFill>
                  <a:latin typeface="Bierstadt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C78EDF7A-D00C-71FF-BB52-92C321388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277" y="824110"/>
                <a:ext cx="1687115" cy="334002"/>
              </a:xfrm>
              <a:prstGeom prst="rect">
                <a:avLst/>
              </a:prstGeom>
              <a:blipFill>
                <a:blip r:embed="rId11"/>
                <a:stretch>
                  <a:fillRect b="-35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97E923D7-1E8F-7A8C-034A-E412327AB496}"/>
              </a:ext>
            </a:extLst>
          </p:cNvPr>
          <p:cNvCxnSpPr>
            <a:cxnSpLocks/>
            <a:stCxn id="231" idx="0"/>
            <a:endCxn id="42" idx="2"/>
          </p:cNvCxnSpPr>
          <p:nvPr/>
        </p:nvCxnSpPr>
        <p:spPr>
          <a:xfrm flipV="1">
            <a:off x="5151839" y="1158112"/>
            <a:ext cx="555996" cy="5652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2EB2BB39-E50A-E6F5-3C55-977EB4B2CAAE}"/>
              </a:ext>
            </a:extLst>
          </p:cNvPr>
          <p:cNvSpPr txBox="1"/>
          <p:nvPr/>
        </p:nvSpPr>
        <p:spPr>
          <a:xfrm>
            <a:off x="4842325" y="494678"/>
            <a:ext cx="1808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LOCALE</a:t>
            </a:r>
            <a:endParaRPr lang="it-IT" sz="1100" b="1" i="1" dirty="0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AEE34863-0472-36D7-42D5-5D271BFC1DFB}"/>
              </a:ext>
            </a:extLst>
          </p:cNvPr>
          <p:cNvSpPr txBox="1"/>
          <p:nvPr/>
        </p:nvSpPr>
        <p:spPr>
          <a:xfrm>
            <a:off x="2312326" y="144492"/>
            <a:ext cx="198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1" dirty="0">
                <a:latin typeface="Bierstadt" panose="020B0004020202020204" pitchFamily="34" charset="0"/>
              </a:rPr>
              <a:t>CONOSCENZA PREGRESSA</a:t>
            </a:r>
            <a:endParaRPr lang="it-IT" sz="1100" b="1" i="1" dirty="0"/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154DE5B0-6762-EFC6-CAED-D92F444429CE}"/>
              </a:ext>
            </a:extLst>
          </p:cNvPr>
          <p:cNvCxnSpPr>
            <a:cxnSpLocks/>
          </p:cNvCxnSpPr>
          <p:nvPr/>
        </p:nvCxnSpPr>
        <p:spPr>
          <a:xfrm>
            <a:off x="9304191" y="3957351"/>
            <a:ext cx="199217" cy="0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ttore diritto 44">
            <a:extLst>
              <a:ext uri="{FF2B5EF4-FFF2-40B4-BE49-F238E27FC236}">
                <a16:creationId xmlns:a16="http://schemas.microsoft.com/office/drawing/2014/main" id="{A2606AA3-918F-7355-BE92-FB222409B967}"/>
              </a:ext>
            </a:extLst>
          </p:cNvPr>
          <p:cNvCxnSpPr>
            <a:cxnSpLocks/>
          </p:cNvCxnSpPr>
          <p:nvPr/>
        </p:nvCxnSpPr>
        <p:spPr>
          <a:xfrm>
            <a:off x="10267752" y="5460682"/>
            <a:ext cx="199217" cy="0"/>
          </a:xfrm>
          <a:prstGeom prst="line">
            <a:avLst/>
          </a:prstGeom>
          <a:ln w="38100">
            <a:solidFill>
              <a:srgbClr val="FF0066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Elemento grafico 18" descr="Distribuzione normale con riempimento a tinta unita">
            <a:extLst>
              <a:ext uri="{FF2B5EF4-FFF2-40B4-BE49-F238E27FC236}">
                <a16:creationId xmlns:a16="http://schemas.microsoft.com/office/drawing/2014/main" id="{A615E4C5-477E-4821-34B7-329B1F47E9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89490" y="5416899"/>
            <a:ext cx="386807" cy="386807"/>
          </a:xfrm>
          <a:prstGeom prst="rect">
            <a:avLst/>
          </a:prstGeom>
        </p:spPr>
      </p:pic>
      <p:pic>
        <p:nvPicPr>
          <p:cNvPr id="20" name="Elemento grafico 19" descr="Distribuzione normale con riempimento a tinta unita">
            <a:extLst>
              <a:ext uri="{FF2B5EF4-FFF2-40B4-BE49-F238E27FC236}">
                <a16:creationId xmlns:a16="http://schemas.microsoft.com/office/drawing/2014/main" id="{EDDDAD46-505D-5005-49B1-FB852B3F16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6835" y="2313955"/>
            <a:ext cx="386807" cy="386807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A772DA-A5C3-4C3A-82EA-48E2DA4E7DFA}"/>
              </a:ext>
            </a:extLst>
          </p:cNvPr>
          <p:cNvSpPr txBox="1"/>
          <p:nvPr/>
        </p:nvSpPr>
        <p:spPr>
          <a:xfrm>
            <a:off x="3927144" y="2362405"/>
            <a:ext cx="619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66"/>
                </a:solidFill>
                <a:latin typeface="Bierstadt" panose="020B0004020202020204" pitchFamily="34" charset="0"/>
              </a:rPr>
              <a:t>0.7</a:t>
            </a:r>
            <a:endParaRPr lang="en-GB" sz="1400" dirty="0">
              <a:solidFill>
                <a:srgbClr val="FF0066"/>
              </a:solidFill>
              <a:latin typeface="Bierstadt" panose="020B0004020202020204" pitchFamily="34" charset="0"/>
            </a:endParaRP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B9161F29-B7F7-83C2-8F5D-800E07795DB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551" y="5039747"/>
            <a:ext cx="4190315" cy="166721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169759-8366-36CD-A738-871D5A6C6AF6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77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919785" y="2319568"/>
            <a:ext cx="8352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RICAPITOLANDO IN PAROLE SEMPLICI</a:t>
            </a:r>
          </a:p>
        </p:txBody>
      </p:sp>
    </p:spTree>
    <p:extLst>
      <p:ext uri="{BB962C8B-B14F-4D97-AF65-F5344CB8AC3E}">
        <p14:creationId xmlns:p14="http://schemas.microsoft.com/office/powerpoint/2010/main" val="2673106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892EEEA0-199C-6CF0-1190-EE90C13EAEED}"/>
                  </a:ext>
                </a:extLst>
              </p:cNvPr>
              <p:cNvSpPr txBox="1"/>
              <p:nvPr/>
            </p:nvSpPr>
            <p:spPr>
              <a:xfrm>
                <a:off x="316681" y="680538"/>
                <a:ext cx="2832555" cy="1399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200" dirty="0">
                    <a:latin typeface="Bierstadt" panose="020B0004020202020204" pitchFamily="34" charset="0"/>
                  </a:rPr>
                  <a:t>Quando sono sull’entrata non ho conoscenza pregressa perché sono all’inizio della mia esplorazione e non ci sono informazioni sui pesi dei due link azzurri perché non ci è ancora passato nessuno. Per me entrambi i link sono buoni e hanno desiderabilità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200" dirty="0">
                    <a:latin typeface="Bierstadt" panose="020B0004020202020204" pitchFamily="34" charset="0"/>
                  </a:rPr>
                  <a:t> = 1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892EEEA0-199C-6CF0-1190-EE90C13EA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1" y="680538"/>
                <a:ext cx="2832555" cy="1399870"/>
              </a:xfrm>
              <a:prstGeom prst="rect">
                <a:avLst/>
              </a:prstGeom>
              <a:blipFill>
                <a:blip r:embed="rId2"/>
                <a:stretch>
                  <a:fillRect l="-215" t="-437" b="-17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8CC8DA8A-77FE-08BE-0C82-49E21B3420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8" t="-347" r="66586" b="54046"/>
          <a:stretch/>
        </p:blipFill>
        <p:spPr>
          <a:xfrm>
            <a:off x="316681" y="2387103"/>
            <a:ext cx="2088796" cy="1687637"/>
          </a:xfrm>
          <a:prstGeom prst="rect">
            <a:avLst/>
          </a:prstGeom>
        </p:spPr>
      </p:pic>
      <p:sp>
        <p:nvSpPr>
          <p:cNvPr id="5" name="Fumetto: rettangolo 4">
            <a:extLst>
              <a:ext uri="{FF2B5EF4-FFF2-40B4-BE49-F238E27FC236}">
                <a16:creationId xmlns:a16="http://schemas.microsoft.com/office/drawing/2014/main" id="{293F2D83-3F70-FA98-BCB8-B70680559DFB}"/>
              </a:ext>
            </a:extLst>
          </p:cNvPr>
          <p:cNvSpPr/>
          <p:nvPr/>
        </p:nvSpPr>
        <p:spPr>
          <a:xfrm>
            <a:off x="233540" y="581491"/>
            <a:ext cx="2998838" cy="1597964"/>
          </a:xfrm>
          <a:prstGeom prst="wedge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3DCF59A-5DFE-AC0C-D84B-59E7746D41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57" t="1282" r="37248" b="35316"/>
          <a:stretch/>
        </p:blipFill>
        <p:spPr>
          <a:xfrm>
            <a:off x="3279951" y="2260808"/>
            <a:ext cx="2088796" cy="1940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0537307-8477-C06F-F07B-DEED86A05D99}"/>
                  </a:ext>
                </a:extLst>
              </p:cNvPr>
              <p:cNvSpPr txBox="1"/>
              <p:nvPr/>
            </p:nvSpPr>
            <p:spPr>
              <a:xfrm>
                <a:off x="3473974" y="660913"/>
                <a:ext cx="2722248" cy="1399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200" dirty="0">
                    <a:latin typeface="Bierstadt" panose="020B0004020202020204" pitchFamily="34" charset="0"/>
                  </a:rPr>
                  <a:t>Quando posso vedere i pesi </a:t>
                </a:r>
                <a:r>
                  <a:rPr lang="it-IT" sz="1200" i="1" dirty="0">
                    <a:latin typeface="Bierstadt" panose="020B0004020202020204" pitchFamily="34" charset="0"/>
                  </a:rPr>
                  <a:t>w</a:t>
                </a:r>
                <a:r>
                  <a:rPr lang="it-IT" sz="1200" i="1" baseline="-25000" dirty="0">
                    <a:latin typeface="Bierstadt" panose="020B0004020202020204" pitchFamily="34" charset="0"/>
                  </a:rPr>
                  <a:t>ij</a:t>
                </a:r>
                <a:r>
                  <a:rPr lang="it-IT" sz="1200" dirty="0">
                    <a:latin typeface="Bierstadt" panose="020B0004020202020204" pitchFamily="34" charset="0"/>
                  </a:rPr>
                  <a:t> dei link che posso scegliere, non mi serve usare la mia conoscenza pregressa perché posso scegliere senza problemi il link  che pesa di meno e quindi è più desiderabile semplicemente calcolando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sz="1200" dirty="0">
                    <a:latin typeface="Bierstadt" panose="020B0004020202020204" pitchFamily="34" charset="0"/>
                  </a:rPr>
                  <a:t>= 1/ </a:t>
                </a:r>
                <a:r>
                  <a:rPr lang="it-IT" sz="1200" i="1" dirty="0">
                    <a:latin typeface="Bierstadt" panose="020B0004020202020204" pitchFamily="34" charset="0"/>
                  </a:rPr>
                  <a:t>w</a:t>
                </a:r>
                <a:r>
                  <a:rPr lang="it-IT" sz="1200" i="1" baseline="-25000" dirty="0">
                    <a:latin typeface="Bierstadt" panose="020B0004020202020204" pitchFamily="34" charset="0"/>
                  </a:rPr>
                  <a:t>ij </a:t>
                </a:r>
                <a:r>
                  <a:rPr lang="it-IT" sz="1200" dirty="0">
                    <a:latin typeface="Bierstadt" panose="020B00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A0537307-8477-C06F-F07B-DEED86A05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974" y="660913"/>
                <a:ext cx="2722248" cy="1399870"/>
              </a:xfrm>
              <a:prstGeom prst="rect">
                <a:avLst/>
              </a:prstGeom>
              <a:blipFill>
                <a:blip r:embed="rId5"/>
                <a:stretch>
                  <a:fillRect l="-224" b="-13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C814EF08-6062-609E-777D-4ED6AB31D022}"/>
              </a:ext>
            </a:extLst>
          </p:cNvPr>
          <p:cNvSpPr/>
          <p:nvPr/>
        </p:nvSpPr>
        <p:spPr>
          <a:xfrm>
            <a:off x="3383491" y="599318"/>
            <a:ext cx="2928819" cy="1597964"/>
          </a:xfrm>
          <a:prstGeom prst="wedge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4537002-6700-ED69-CFD5-666ED203A33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952" t="-390" r="37582" b="39319"/>
          <a:stretch/>
        </p:blipFill>
        <p:spPr>
          <a:xfrm>
            <a:off x="7186069" y="2259661"/>
            <a:ext cx="1926798" cy="1815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0264625-EE9E-AE7B-25AF-F78B6A0853BB}"/>
                  </a:ext>
                </a:extLst>
              </p:cNvPr>
              <p:cNvSpPr txBox="1"/>
              <p:nvPr/>
            </p:nvSpPr>
            <p:spPr>
              <a:xfrm>
                <a:off x="6868840" y="661697"/>
                <a:ext cx="3852995" cy="1430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200" dirty="0">
                    <a:latin typeface="Bierstadt" panose="020B0004020202020204" pitchFamily="34" charset="0"/>
                  </a:rPr>
                  <a:t>Quando non posso vedere i pesi </a:t>
                </a:r>
                <a:r>
                  <a:rPr lang="it-IT" sz="1200" i="1" dirty="0">
                    <a:latin typeface="Bierstadt" panose="020B0004020202020204" pitchFamily="34" charset="0"/>
                  </a:rPr>
                  <a:t>w</a:t>
                </a:r>
                <a:r>
                  <a:rPr lang="it-IT" sz="1200" i="1" baseline="-25000" dirty="0">
                    <a:latin typeface="Bierstadt" panose="020B0004020202020204" pitchFamily="34" charset="0"/>
                  </a:rPr>
                  <a:t>ij</a:t>
                </a:r>
                <a:r>
                  <a:rPr lang="it-IT" sz="1200" dirty="0">
                    <a:latin typeface="Bierstadt" panose="020B0004020202020204" pitchFamily="34" charset="0"/>
                  </a:rPr>
                  <a:t> dei link che posso scegliere, devo per forza usare la mia conoscenza pregressa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>
                    <a:latin typeface="Bierstadt" panose="020B0004020202020204" pitchFamily="34" charset="0"/>
                  </a:rPr>
                  <a:t>per potere stimare il loro peso (e di conseguenza la desiderabilità). Stimerò il peso di ciascun link come la media dei pesi dei links che ho attraversato e quindi la desiderabilità di ciascuno di essi sarà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it-IT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GB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it-IT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it-IT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d>
                          <m:dPr>
                            <m:ctrlPr>
                              <a:rPr lang="it-IT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it-IT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it-IT" sz="1200" dirty="0">
                  <a:latin typeface="Bierstadt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0264625-EE9E-AE7B-25AF-F78B6A085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840" y="661697"/>
                <a:ext cx="3852995" cy="1430263"/>
              </a:xfrm>
              <a:prstGeom prst="rect">
                <a:avLst/>
              </a:prstGeom>
              <a:blipFill>
                <a:blip r:embed="rId7"/>
                <a:stretch>
                  <a:fillRect l="-158" t="-427" b="-273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F0C55CE3-E1D7-0F62-D3ED-E7775BAF903B}"/>
              </a:ext>
            </a:extLst>
          </p:cNvPr>
          <p:cNvSpPr/>
          <p:nvPr/>
        </p:nvSpPr>
        <p:spPr>
          <a:xfrm>
            <a:off x="6764602" y="562650"/>
            <a:ext cx="4039413" cy="1597964"/>
          </a:xfrm>
          <a:prstGeom prst="wedge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17A9F2C-7FCE-1848-079D-54BC15644150}"/>
              </a:ext>
            </a:extLst>
          </p:cNvPr>
          <p:cNvSpPr txBox="1"/>
          <p:nvPr/>
        </p:nvSpPr>
        <p:spPr>
          <a:xfrm>
            <a:off x="233539" y="197546"/>
            <a:ext cx="2998838" cy="26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100" b="1" dirty="0">
                <a:latin typeface="Bierstadt" panose="020B0004020202020204" pitchFamily="34" charset="0"/>
              </a:rPr>
              <a:t>1 ) LA CONOSCENZA PREGRESSA NON C’E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AD7082-33AB-1243-1B2A-575BF8F4180F}"/>
              </a:ext>
            </a:extLst>
          </p:cNvPr>
          <p:cNvSpPr txBox="1"/>
          <p:nvPr/>
        </p:nvSpPr>
        <p:spPr>
          <a:xfrm>
            <a:off x="3383491" y="197546"/>
            <a:ext cx="29988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latin typeface="Bierstadt" panose="020B0004020202020204" pitchFamily="34" charset="0"/>
              </a:rPr>
              <a:t>2) LA CONOSCENZA PREGRESSA C’E MA NON MI SERVE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00C585-9251-59E9-E01B-A97F6D3727AE}"/>
              </a:ext>
            </a:extLst>
          </p:cNvPr>
          <p:cNvSpPr txBox="1"/>
          <p:nvPr/>
        </p:nvSpPr>
        <p:spPr>
          <a:xfrm>
            <a:off x="7018798" y="209450"/>
            <a:ext cx="35310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latin typeface="Bierstadt" panose="020B0004020202020204" pitchFamily="34" charset="0"/>
              </a:rPr>
              <a:t>3) LA CONOSCENZA PREGRESSA C’E E MI SERVE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2BFF91F-C22E-743D-AF2A-0B266F6F0A89}"/>
              </a:ext>
            </a:extLst>
          </p:cNvPr>
          <p:cNvSpPr txBox="1"/>
          <p:nvPr/>
        </p:nvSpPr>
        <p:spPr>
          <a:xfrm>
            <a:off x="9048399" y="4074740"/>
            <a:ext cx="289846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latin typeface="Bierstadt" panose="020B0004020202020204" pitchFamily="34" charset="0"/>
              </a:rPr>
              <a:t>3.1) LA CONOSCENZA PREGRESSA C’E </a:t>
            </a:r>
          </a:p>
          <a:p>
            <a:r>
              <a:rPr lang="it-IT" sz="1100" b="1" dirty="0">
                <a:latin typeface="Bierstadt" panose="020B0004020202020204" pitchFamily="34" charset="0"/>
              </a:rPr>
              <a:t>MI SERVE E C’E’ ANCHE LA CONOSCENZA LOCALE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8853B1B5-CF67-E7E5-F528-70F48069A4FA}"/>
                  </a:ext>
                </a:extLst>
              </p:cNvPr>
              <p:cNvSpPr txBox="1"/>
              <p:nvPr/>
            </p:nvSpPr>
            <p:spPr>
              <a:xfrm>
                <a:off x="4712537" y="4751441"/>
                <a:ext cx="4094693" cy="1628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200" dirty="0">
                    <a:latin typeface="Bierstadt" panose="020B0004020202020204" pitchFamily="34" charset="0"/>
                  </a:rPr>
                  <a:t>Quando posso vedere i pesi </a:t>
                </a:r>
                <a:r>
                  <a:rPr lang="it-IT" sz="1200" i="1" dirty="0">
                    <a:latin typeface="Bierstadt" panose="020B0004020202020204" pitchFamily="34" charset="0"/>
                  </a:rPr>
                  <a:t>w</a:t>
                </a:r>
                <a:r>
                  <a:rPr lang="it-IT" sz="1200" i="1" baseline="-25000" dirty="0">
                    <a:latin typeface="Bierstadt" panose="020B0004020202020204" pitchFamily="34" charset="0"/>
                  </a:rPr>
                  <a:t>ij</a:t>
                </a:r>
                <a:r>
                  <a:rPr lang="it-IT" sz="1200" dirty="0">
                    <a:latin typeface="Bierstadt" panose="020B0004020202020204" pitchFamily="34" charset="0"/>
                  </a:rPr>
                  <a:t> solo di alcuni link che posso scegliere, devo usare non solo la mia conoscenza pregressa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>
                    <a:latin typeface="Bierstadt" panose="020B0004020202020204" pitchFamily="34" charset="0"/>
                  </a:rPr>
                  <a:t>ma anche la  mia conoscenza locale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GB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it-IT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200" dirty="0">
                    <a:latin typeface="Bierstadt" panose="020B0004020202020204" pitchFamily="34" charset="0"/>
                  </a:rPr>
                  <a:t> per potere stimare il loro peso (e di conseguenza la desiderabilità). Stimerò il peso di ciascun link facendo la media tra: la media dei pesi dei links che ho attraversato e la media dei pesi dei link che posso vedere, quindi la desiderabilità sarà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it-IT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type m:val="lin"/>
                        <m:ctrlPr>
                          <a:rPr lang="it-IT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it-IT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den>
                    </m:f>
                  </m:oMath>
                </a14:m>
                <a:endParaRPr lang="it-IT" sz="1200" dirty="0">
                  <a:latin typeface="Bierstadt" panose="020B0004020202020204" pitchFamily="34" charset="0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8853B1B5-CF67-E7E5-F528-70F48069A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537" y="4751441"/>
                <a:ext cx="4094693" cy="1628203"/>
              </a:xfrm>
              <a:prstGeom prst="rect">
                <a:avLst/>
              </a:prstGeom>
              <a:blipFill>
                <a:blip r:embed="rId8"/>
                <a:stretch>
                  <a:fillRect r="-149" b="-216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umetto: rettangolo 18">
            <a:extLst>
              <a:ext uri="{FF2B5EF4-FFF2-40B4-BE49-F238E27FC236}">
                <a16:creationId xmlns:a16="http://schemas.microsoft.com/office/drawing/2014/main" id="{164F89FD-7C24-144C-8952-98836382A615}"/>
              </a:ext>
            </a:extLst>
          </p:cNvPr>
          <p:cNvSpPr/>
          <p:nvPr/>
        </p:nvSpPr>
        <p:spPr>
          <a:xfrm rot="16200000">
            <a:off x="5961441" y="3440645"/>
            <a:ext cx="1606322" cy="4271676"/>
          </a:xfrm>
          <a:prstGeom prst="wedgeRect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A3DDC9C2-F29A-CDB9-A19B-E49909CDE950}"/>
                  </a:ext>
                </a:extLst>
              </p:cNvPr>
              <p:cNvSpPr txBox="1"/>
              <p:nvPr/>
            </p:nvSpPr>
            <p:spPr>
              <a:xfrm>
                <a:off x="453036" y="4308282"/>
                <a:ext cx="3319093" cy="600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it-IT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lin"/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𝐶𝐴𝑆𝑂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den>
                              </m:f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𝐶𝐴𝑆𝑂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3 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3.1</m:t>
                              </m:r>
                            </m:e>
                            <m:e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1                                             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𝐶𝐴𝑆𝑂</m:t>
                              </m:r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A3DDC9C2-F29A-CDB9-A19B-E49909CDE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36" y="4308282"/>
                <a:ext cx="3319093" cy="6001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5F9B4DF9-5CD8-AE5C-4DF4-F1F915150693}"/>
                  </a:ext>
                </a:extLst>
              </p:cNvPr>
              <p:cNvSpPr txBox="1"/>
              <p:nvPr/>
            </p:nvSpPr>
            <p:spPr>
              <a:xfrm>
                <a:off x="508486" y="5797094"/>
                <a:ext cx="3844207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it-IT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it-IT" sz="1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conoscenza pregressa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14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it-IT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it-IT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sz="1400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it-IT" sz="14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conoscenza locale</a:t>
                </a:r>
                <a:endParaRPr lang="it-IT" sz="140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5F9B4DF9-5CD8-AE5C-4DF4-F1F915150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86" y="5797094"/>
                <a:ext cx="3844207" cy="703013"/>
              </a:xfrm>
              <a:prstGeom prst="rect">
                <a:avLst/>
              </a:prstGeom>
              <a:blipFill>
                <a:blip r:embed="rId10"/>
                <a:stretch>
                  <a:fillRect t="-38261" b="-634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>
            <a:extLst>
              <a:ext uri="{FF2B5EF4-FFF2-40B4-BE49-F238E27FC236}">
                <a16:creationId xmlns:a16="http://schemas.microsoft.com/office/drawing/2014/main" id="{B62A1CF3-0E28-35B6-D48B-39C18D53F78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9275" t="2191" r="43226" b="38316"/>
          <a:stretch/>
        </p:blipFill>
        <p:spPr>
          <a:xfrm>
            <a:off x="9406739" y="4608364"/>
            <a:ext cx="2286156" cy="20401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3BF6B2AD-A26E-4262-A396-ACE65AC3ADAD}"/>
                  </a:ext>
                </a:extLst>
              </p:cNvPr>
              <p:cNvSpPr txBox="1"/>
              <p:nvPr/>
            </p:nvSpPr>
            <p:spPr>
              <a:xfrm>
                <a:off x="610053" y="5203068"/>
                <a:ext cx="1795424" cy="462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it-IT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it-IT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it-IT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it-IT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it-IT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it-IT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it-IT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it-IT" sz="1400" dirty="0"/>
                  <a:t> </a:t>
                </a: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3BF6B2AD-A26E-4262-A396-ACE65AC3A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3" y="5203068"/>
                <a:ext cx="1795424" cy="462306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082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220BC7B-77B1-AB04-33B4-7E67A9913F14}"/>
              </a:ext>
            </a:extLst>
          </p:cNvPr>
          <p:cNvSpPr txBox="1"/>
          <p:nvPr/>
        </p:nvSpPr>
        <p:spPr>
          <a:xfrm>
            <a:off x="1637731" y="1641143"/>
            <a:ext cx="8352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Bierstadt" panose="020B0004020202020204" pitchFamily="34" charset="0"/>
              </a:rPr>
              <a:t>MECCANISMO DI DISTRUZIONE DEI LINKS DA PARTE DEI DEFCTORS</a:t>
            </a:r>
          </a:p>
        </p:txBody>
      </p:sp>
    </p:spTree>
    <p:extLst>
      <p:ext uri="{BB962C8B-B14F-4D97-AF65-F5344CB8AC3E}">
        <p14:creationId xmlns:p14="http://schemas.microsoft.com/office/powerpoint/2010/main" val="552834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73" y="180751"/>
            <a:ext cx="728512" cy="9450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E4407E3-8B26-DA57-F11F-EF5EA65B4EEF}"/>
                  </a:ext>
                </a:extLst>
              </p:cNvPr>
              <p:cNvSpPr txBox="1"/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Bierstadt" panose="020B0004020202020204" pitchFamily="34" charset="0"/>
                  </a:rPr>
                  <a:t>Il disertore, dopo il suo passaggio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 </a:t>
                </a:r>
                <a:r>
                  <a:rPr lang="it-IT" sz="1400" dirty="0">
                    <a:latin typeface="Bierstadt" panose="020B0004020202020204" pitchFamily="34" charset="0"/>
                  </a:rPr>
                  <a:t>relativa al suo passaggio e, con una certa probabilità definita da noi, a causa della sua disattenzione, può rendere inaccessibile il link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E4407E3-8B26-DA57-F11F-EF5EA65B4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blipFill>
                <a:blip r:embed="rId4"/>
                <a:stretch>
                  <a:fillRect l="-334" r="-1171"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8E0D29F-31BF-566C-C0E4-D4895DEAD7D9}"/>
              </a:ext>
            </a:extLst>
          </p:cNvPr>
          <p:cNvSpPr txBox="1"/>
          <p:nvPr/>
        </p:nvSpPr>
        <p:spPr>
          <a:xfrm>
            <a:off x="146799" y="6369472"/>
            <a:ext cx="5858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A4D665B-F316-8680-515B-4AC46AAB2E40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1545AE-D7C6-4A32-00E0-C01B706FEE0A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1B7C270-4C46-F516-8F9A-851B03DB1394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0061D66-0AFA-17A1-FF68-E1467CA43BAF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805E70E-AA78-683C-EAB7-436E6F9A3318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CA10F8-7192-B06E-DE40-83E6831B6212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8618225-06B4-D69B-7F90-6F3411D51488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966F424-8F70-647A-D9E0-FDE6E503B04B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F47F890-5CF9-9AC8-D29B-FEA9667E944A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D566A7E-5AE8-17B9-C442-2997A8B9ADB1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4BB9F71-9780-4FBA-4310-799C5A829541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2A66C7C-9003-349C-014C-5F75D13A4162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5CA2A6E-68EB-E941-0806-D5F96A548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058045"/>
            <a:ext cx="4190315" cy="166721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12C2CA-52AA-80AD-D0AB-7FFC72B59EA5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0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834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Ovale 116">
            <a:extLst>
              <a:ext uri="{FF2B5EF4-FFF2-40B4-BE49-F238E27FC236}">
                <a16:creationId xmlns:a16="http://schemas.microsoft.com/office/drawing/2014/main" id="{2E04C176-7C7D-B3A8-FA05-76116BCA698F}"/>
              </a:ext>
            </a:extLst>
          </p:cNvPr>
          <p:cNvSpPr/>
          <p:nvPr/>
        </p:nvSpPr>
        <p:spPr>
          <a:xfrm>
            <a:off x="4958441" y="884610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925" y="933878"/>
            <a:ext cx="728512" cy="945042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AC738BE9-7526-A6A3-AF43-98D8DE46E645}"/>
              </a:ext>
            </a:extLst>
          </p:cNvPr>
          <p:cNvCxnSpPr>
            <a:cxnSpLocks/>
            <a:stCxn id="70" idx="5"/>
          </p:cNvCxnSpPr>
          <p:nvPr/>
        </p:nvCxnSpPr>
        <p:spPr>
          <a:xfrm>
            <a:off x="2076977" y="1042687"/>
            <a:ext cx="1241771" cy="60773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8E1705-2012-54A9-3A2B-E12150063213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98FA670-3446-5F82-E207-E0FEA0BCA981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F6C0BA-AB0F-6211-7707-85C5FDB6F85F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C3A9AAE-89D6-999D-FD0E-3622F4C11E42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996A05F-D08B-05FF-598A-58A162CE8DEA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6C828D8-2DBD-9FEF-BDD1-44085BD89D7E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00A3CA4-CB89-9F1A-9020-81811BA023E1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A18F30D-04C6-8972-6502-B39F7C1B101B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CAE8714-E26E-7ADB-2331-42B9EC9E5BE0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9318B53-9445-5C6E-AE95-18E307A7A78A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62A5D33-7EC5-F69D-57EC-2EF25EDAC380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AE7F32EE-143C-98F6-4D31-AA031BA77C50}"/>
                  </a:ext>
                </a:extLst>
              </p:cNvPr>
              <p:cNvSpPr txBox="1"/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Bierstadt" panose="020B0004020202020204" pitchFamily="34" charset="0"/>
                  </a:rPr>
                  <a:t>Il disertore, dopo il suo passaggio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 </a:t>
                </a:r>
                <a:r>
                  <a:rPr lang="it-IT" sz="1400" dirty="0">
                    <a:latin typeface="Bierstadt" panose="020B0004020202020204" pitchFamily="34" charset="0"/>
                  </a:rPr>
                  <a:t>relativa al suo passaggio e, con una certa probabilità definita da noi, a causa della sua disattenzione, può rendere inaccessibile il link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AE7F32EE-143C-98F6-4D31-AA031BA77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blipFill>
                <a:blip r:embed="rId4"/>
                <a:stretch>
                  <a:fillRect l="-334" r="-1171"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74A3C07-49BD-44B1-C039-38C24C769299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53EF58E-F670-EE19-6050-DEF20CD8A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058045"/>
            <a:ext cx="4190315" cy="166721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33E518-EA61-7DC3-D224-4243D33A08A0}"/>
              </a:ext>
            </a:extLst>
          </p:cNvPr>
          <p:cNvSpPr txBox="1"/>
          <p:nvPr/>
        </p:nvSpPr>
        <p:spPr>
          <a:xfrm>
            <a:off x="146799" y="6369472"/>
            <a:ext cx="5858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AB4A4E-2303-E45D-188A-CED93356D460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1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19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1A93D9C-D171-F922-CAF0-C45927DD2365}"/>
              </a:ext>
            </a:extLst>
          </p:cNvPr>
          <p:cNvCxnSpPr>
            <a:cxnSpLocks/>
          </p:cNvCxnSpPr>
          <p:nvPr/>
        </p:nvCxnSpPr>
        <p:spPr>
          <a:xfrm flipH="1" flipV="1">
            <a:off x="3613140" y="1811416"/>
            <a:ext cx="1422493" cy="716609"/>
          </a:xfrm>
          <a:prstGeom prst="line">
            <a:avLst/>
          </a:prstGeom>
          <a:ln w="38100">
            <a:solidFill>
              <a:srgbClr val="FF0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578" y="1752842"/>
            <a:ext cx="728512" cy="945042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8C4CE929-E40E-1DF6-4FBE-0271C07130AC}"/>
              </a:ext>
            </a:extLst>
          </p:cNvPr>
          <p:cNvCxnSpPr>
            <a:cxnSpLocks/>
            <a:stCxn id="70" idx="5"/>
          </p:cNvCxnSpPr>
          <p:nvPr/>
        </p:nvCxnSpPr>
        <p:spPr>
          <a:xfrm>
            <a:off x="2076977" y="1042687"/>
            <a:ext cx="1241771" cy="607737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118ACED-D40D-AC11-AE93-E5BB37DFF1BA}"/>
              </a:ext>
            </a:extLst>
          </p:cNvPr>
          <p:cNvCxnSpPr>
            <a:cxnSpLocks/>
          </p:cNvCxnSpPr>
          <p:nvPr/>
        </p:nvCxnSpPr>
        <p:spPr>
          <a:xfrm>
            <a:off x="3611476" y="1867678"/>
            <a:ext cx="1279050" cy="63118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4C24FF-1F87-C9A7-27AD-91DC4FE99C35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6DF811-5132-09CB-5858-BBE46F1328FD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A00A0C-96EC-474B-F78C-CAC7F7C9A4FC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3FF64F1-186F-4971-993E-55951D24B301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6323A14-2372-0930-D25F-24D60D9CE373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5930591-6643-6615-48EE-975F705459A4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7B86735-93BA-99FE-25A8-0751073B8EDF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ADFEB1F-0A31-B46A-2F49-24B6CA5E548E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888703A-72E3-A7AA-1E73-15D0C8D19A5A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31C7A72-EF7C-1D50-0D60-2E24D75B0CDA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208E433-59F5-17F0-93B2-5F3DD2CEEAC7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BA2E417-235D-1833-4841-390CB4409337}"/>
                  </a:ext>
                </a:extLst>
              </p:cNvPr>
              <p:cNvSpPr txBox="1"/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Bierstadt" panose="020B0004020202020204" pitchFamily="34" charset="0"/>
                  </a:rPr>
                  <a:t>Il disertore, dopo il suo passaggio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 </a:t>
                </a:r>
                <a:r>
                  <a:rPr lang="it-IT" sz="1400" dirty="0">
                    <a:latin typeface="Bierstadt" panose="020B0004020202020204" pitchFamily="34" charset="0"/>
                  </a:rPr>
                  <a:t>relativa al suo passaggio e, con una certa probabilità definita da noi, a causa della sua disattenzione, può rendere inaccessibile il link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2BA2E417-235D-1833-4841-390CB440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blipFill>
                <a:blip r:embed="rId4"/>
                <a:stretch>
                  <a:fillRect l="-334" r="-1171"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AFAA3A9-DF99-E460-59FD-711A72009EC7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42B9413-9D51-6BF1-9237-952650EF5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058045"/>
            <a:ext cx="4190315" cy="166721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8C6C236-FC0A-42AA-38F5-F126606BAD3E}"/>
              </a:ext>
            </a:extLst>
          </p:cNvPr>
          <p:cNvSpPr txBox="1"/>
          <p:nvPr/>
        </p:nvSpPr>
        <p:spPr>
          <a:xfrm>
            <a:off x="146799" y="6369472"/>
            <a:ext cx="5858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49DCD7E-8C20-0BAA-A25B-733162654E86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2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895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1A93D9C-D171-F922-CAF0-C45927DD2365}"/>
              </a:ext>
            </a:extLst>
          </p:cNvPr>
          <p:cNvCxnSpPr>
            <a:cxnSpLocks/>
          </p:cNvCxnSpPr>
          <p:nvPr/>
        </p:nvCxnSpPr>
        <p:spPr>
          <a:xfrm flipH="1" flipV="1">
            <a:off x="3613140" y="1811416"/>
            <a:ext cx="1422493" cy="716609"/>
          </a:xfrm>
          <a:prstGeom prst="line">
            <a:avLst/>
          </a:prstGeom>
          <a:ln w="38100">
            <a:solidFill>
              <a:srgbClr val="FF0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38274F0-D166-238E-AEA8-4F29073A7B49}"/>
              </a:ext>
            </a:extLst>
          </p:cNvPr>
          <p:cNvSpPr/>
          <p:nvPr/>
        </p:nvSpPr>
        <p:spPr>
          <a:xfrm>
            <a:off x="3323684" y="323030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014" y="2507254"/>
            <a:ext cx="728512" cy="945042"/>
          </a:xfrm>
          <a:prstGeom prst="rect">
            <a:avLst/>
          </a:prstGeom>
        </p:spPr>
      </p:pic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AB10D5BC-0DB4-7775-FFC7-50473F3F9766}"/>
              </a:ext>
            </a:extLst>
          </p:cNvPr>
          <p:cNvCxnSpPr>
            <a:cxnSpLocks/>
          </p:cNvCxnSpPr>
          <p:nvPr/>
        </p:nvCxnSpPr>
        <p:spPr>
          <a:xfrm>
            <a:off x="2080642" y="1046535"/>
            <a:ext cx="1279050" cy="63118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3E6C446F-46ED-F435-66DD-143FF68C710B}"/>
              </a:ext>
            </a:extLst>
          </p:cNvPr>
          <p:cNvCxnSpPr>
            <a:cxnSpLocks/>
          </p:cNvCxnSpPr>
          <p:nvPr/>
        </p:nvCxnSpPr>
        <p:spPr>
          <a:xfrm>
            <a:off x="3597824" y="1854031"/>
            <a:ext cx="1279050" cy="63118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E67608F2-3E91-4BB7-D0A4-9E0535B00EFB}"/>
              </a:ext>
            </a:extLst>
          </p:cNvPr>
          <p:cNvCxnSpPr>
            <a:cxnSpLocks/>
          </p:cNvCxnSpPr>
          <p:nvPr/>
        </p:nvCxnSpPr>
        <p:spPr>
          <a:xfrm flipV="1">
            <a:off x="3638204" y="2624569"/>
            <a:ext cx="1347952" cy="63321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1F26E7A-9591-B5B3-D662-466858D4BD6C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616029E-B17A-807B-CBF7-F4A1450623B4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F28975-BB07-ACD5-02A3-F6A4C2FB69C6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66CC57-39AE-38CA-00BC-EBB60879B70D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E8F64E7-1E6C-AD2F-9179-484552E3B083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76160C0-287C-A7F3-93BD-72C31B672324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8DD9DEF-E7BB-AECA-E5E8-574E92416952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661D333-3F75-42EE-8773-E2A40CC9B769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673BAF3-D7A5-F856-3D24-B75934C1DD3E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8CEDDFE-0721-1188-CA2D-4ED083910E45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E6FA295-7D1B-8375-5EF6-5AB32F06C0A6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83EBAD9-3ABC-D007-ED14-8BA4EFA7B200}"/>
                  </a:ext>
                </a:extLst>
              </p:cNvPr>
              <p:cNvSpPr txBox="1"/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Bierstadt" panose="020B0004020202020204" pitchFamily="34" charset="0"/>
                  </a:rPr>
                  <a:t>Il disertore, dopo il suo passaggio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 </a:t>
                </a:r>
                <a:r>
                  <a:rPr lang="it-IT" sz="1400" dirty="0">
                    <a:latin typeface="Bierstadt" panose="020B0004020202020204" pitchFamily="34" charset="0"/>
                  </a:rPr>
                  <a:t>relativa al suo passaggio e, con una certa probabilità definita da noi, a causa della sua disattenzione, può rendere inaccessibile il link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83EBAD9-3ABC-D007-ED14-8BA4EFA7B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blipFill>
                <a:blip r:embed="rId4"/>
                <a:stretch>
                  <a:fillRect l="-334" r="-1171"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4F141F6-F673-F9B5-9260-837623B279F7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2AA9DD5-4500-2A4E-136B-D02EAF4A0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058045"/>
            <a:ext cx="4190315" cy="166721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C04094-E4F0-A69C-E5A4-5FF59FAA5D2D}"/>
              </a:ext>
            </a:extLst>
          </p:cNvPr>
          <p:cNvSpPr txBox="1"/>
          <p:nvPr/>
        </p:nvSpPr>
        <p:spPr>
          <a:xfrm>
            <a:off x="146799" y="6369472"/>
            <a:ext cx="5858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6ECAF9-94FF-C23A-BF08-D7F27CC1B814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3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31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2A938041-CDA2-A571-724F-8AF2144EFF4F}"/>
              </a:ext>
            </a:extLst>
          </p:cNvPr>
          <p:cNvCxnSpPr>
            <a:cxnSpLocks/>
          </p:cNvCxnSpPr>
          <p:nvPr/>
        </p:nvCxnSpPr>
        <p:spPr>
          <a:xfrm flipH="1" flipV="1">
            <a:off x="1951378" y="986134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A1A93D9C-D171-F922-CAF0-C45927DD2365}"/>
              </a:ext>
            </a:extLst>
          </p:cNvPr>
          <p:cNvCxnSpPr>
            <a:cxnSpLocks/>
          </p:cNvCxnSpPr>
          <p:nvPr/>
        </p:nvCxnSpPr>
        <p:spPr>
          <a:xfrm flipH="1" flipV="1">
            <a:off x="3613140" y="1811416"/>
            <a:ext cx="1422493" cy="716609"/>
          </a:xfrm>
          <a:prstGeom prst="line">
            <a:avLst/>
          </a:prstGeom>
          <a:ln w="38100">
            <a:solidFill>
              <a:srgbClr val="FF0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79A864BA-4CFC-AF5E-7377-A17CBADE7D74}"/>
              </a:ext>
            </a:extLst>
          </p:cNvPr>
          <p:cNvCxnSpPr>
            <a:cxnSpLocks/>
          </p:cNvCxnSpPr>
          <p:nvPr/>
        </p:nvCxnSpPr>
        <p:spPr>
          <a:xfrm flipH="1" flipV="1">
            <a:off x="5132023" y="255828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nettore diritto 192">
            <a:extLst>
              <a:ext uri="{FF2B5EF4-FFF2-40B4-BE49-F238E27FC236}">
                <a16:creationId xmlns:a16="http://schemas.microsoft.com/office/drawing/2014/main" id="{00C33614-5E85-ADE1-7393-3B1BC83ED4B5}"/>
              </a:ext>
            </a:extLst>
          </p:cNvPr>
          <p:cNvCxnSpPr>
            <a:cxnSpLocks/>
          </p:cNvCxnSpPr>
          <p:nvPr/>
        </p:nvCxnSpPr>
        <p:spPr>
          <a:xfrm flipH="1" flipV="1">
            <a:off x="291975" y="4923171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ttore diritto 209">
            <a:extLst>
              <a:ext uri="{FF2B5EF4-FFF2-40B4-BE49-F238E27FC236}">
                <a16:creationId xmlns:a16="http://schemas.microsoft.com/office/drawing/2014/main" id="{4D97C25D-5C39-BD83-6864-14041E734398}"/>
              </a:ext>
            </a:extLst>
          </p:cNvPr>
          <p:cNvCxnSpPr>
            <a:cxnSpLocks/>
          </p:cNvCxnSpPr>
          <p:nvPr/>
        </p:nvCxnSpPr>
        <p:spPr>
          <a:xfrm flipH="1" flipV="1">
            <a:off x="8331363" y="2560048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ttore diritto 210">
            <a:extLst>
              <a:ext uri="{FF2B5EF4-FFF2-40B4-BE49-F238E27FC236}">
                <a16:creationId xmlns:a16="http://schemas.microsoft.com/office/drawing/2014/main" id="{098D345C-39D9-8059-04E0-9C12194ABF80}"/>
              </a:ext>
            </a:extLst>
          </p:cNvPr>
          <p:cNvCxnSpPr>
            <a:cxnSpLocks/>
          </p:cNvCxnSpPr>
          <p:nvPr/>
        </p:nvCxnSpPr>
        <p:spPr>
          <a:xfrm flipH="1">
            <a:off x="8355769" y="3338505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ttore diritto 211">
            <a:extLst>
              <a:ext uri="{FF2B5EF4-FFF2-40B4-BE49-F238E27FC236}">
                <a16:creationId xmlns:a16="http://schemas.microsoft.com/office/drawing/2014/main" id="{80E71818-787D-45ED-1E15-78C47C46F471}"/>
              </a:ext>
            </a:extLst>
          </p:cNvPr>
          <p:cNvCxnSpPr>
            <a:cxnSpLocks/>
          </p:cNvCxnSpPr>
          <p:nvPr/>
        </p:nvCxnSpPr>
        <p:spPr>
          <a:xfrm flipH="1" flipV="1">
            <a:off x="8380134" y="1020755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ttore diritto 212">
            <a:extLst>
              <a:ext uri="{FF2B5EF4-FFF2-40B4-BE49-F238E27FC236}">
                <a16:creationId xmlns:a16="http://schemas.microsoft.com/office/drawing/2014/main" id="{6280831C-6FD9-6983-ED1E-66BBD278E2B4}"/>
              </a:ext>
            </a:extLst>
          </p:cNvPr>
          <p:cNvCxnSpPr>
            <a:cxnSpLocks/>
          </p:cNvCxnSpPr>
          <p:nvPr/>
        </p:nvCxnSpPr>
        <p:spPr>
          <a:xfrm flipH="1">
            <a:off x="8404540" y="1799212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ttore diritto 197">
            <a:extLst>
              <a:ext uri="{FF2B5EF4-FFF2-40B4-BE49-F238E27FC236}">
                <a16:creationId xmlns:a16="http://schemas.microsoft.com/office/drawing/2014/main" id="{4091B7B7-0D68-7A2E-3E3E-4CFBC562B6F3}"/>
              </a:ext>
            </a:extLst>
          </p:cNvPr>
          <p:cNvCxnSpPr>
            <a:cxnSpLocks/>
          </p:cNvCxnSpPr>
          <p:nvPr/>
        </p:nvCxnSpPr>
        <p:spPr>
          <a:xfrm flipH="1" flipV="1">
            <a:off x="8308148" y="4112513"/>
            <a:ext cx="1585138" cy="78128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nettore diritto 196">
            <a:extLst>
              <a:ext uri="{FF2B5EF4-FFF2-40B4-BE49-F238E27FC236}">
                <a16:creationId xmlns:a16="http://schemas.microsoft.com/office/drawing/2014/main" id="{1782758F-7CAE-9458-06A6-85182FCBDAFD}"/>
              </a:ext>
            </a:extLst>
          </p:cNvPr>
          <p:cNvCxnSpPr>
            <a:cxnSpLocks/>
          </p:cNvCxnSpPr>
          <p:nvPr/>
        </p:nvCxnSpPr>
        <p:spPr>
          <a:xfrm flipH="1">
            <a:off x="8332554" y="4890970"/>
            <a:ext cx="1543103" cy="7721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ttore diritto 184">
            <a:extLst>
              <a:ext uri="{FF2B5EF4-FFF2-40B4-BE49-F238E27FC236}">
                <a16:creationId xmlns:a16="http://schemas.microsoft.com/office/drawing/2014/main" id="{7FE8B116-3343-792C-10F1-9247E37F2123}"/>
              </a:ext>
            </a:extLst>
          </p:cNvPr>
          <p:cNvCxnSpPr>
            <a:cxnSpLocks/>
          </p:cNvCxnSpPr>
          <p:nvPr/>
        </p:nvCxnSpPr>
        <p:spPr>
          <a:xfrm flipH="1" flipV="1">
            <a:off x="257960" y="1846032"/>
            <a:ext cx="1600649" cy="67690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Connettore diritto 175">
            <a:extLst>
              <a:ext uri="{FF2B5EF4-FFF2-40B4-BE49-F238E27FC236}">
                <a16:creationId xmlns:a16="http://schemas.microsoft.com/office/drawing/2014/main" id="{E7110F91-AEA5-1F7B-FA15-327850729533}"/>
              </a:ext>
            </a:extLst>
          </p:cNvPr>
          <p:cNvCxnSpPr>
            <a:cxnSpLocks/>
          </p:cNvCxnSpPr>
          <p:nvPr/>
        </p:nvCxnSpPr>
        <p:spPr>
          <a:xfrm flipH="1">
            <a:off x="225529" y="983229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ttore diritto 173">
            <a:extLst>
              <a:ext uri="{FF2B5EF4-FFF2-40B4-BE49-F238E27FC236}">
                <a16:creationId xmlns:a16="http://schemas.microsoft.com/office/drawing/2014/main" id="{45B15713-3A5E-CB03-A5D4-7335530CC343}"/>
              </a:ext>
            </a:extLst>
          </p:cNvPr>
          <p:cNvCxnSpPr>
            <a:cxnSpLocks/>
          </p:cNvCxnSpPr>
          <p:nvPr/>
        </p:nvCxnSpPr>
        <p:spPr>
          <a:xfrm flipH="1">
            <a:off x="249222" y="4078553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ttore diritto 170">
            <a:extLst>
              <a:ext uri="{FF2B5EF4-FFF2-40B4-BE49-F238E27FC236}">
                <a16:creationId xmlns:a16="http://schemas.microsoft.com/office/drawing/2014/main" id="{D8606052-0B53-6F70-2EC9-B6EA52A6ABCF}"/>
              </a:ext>
            </a:extLst>
          </p:cNvPr>
          <p:cNvCxnSpPr>
            <a:cxnSpLocks/>
          </p:cNvCxnSpPr>
          <p:nvPr/>
        </p:nvCxnSpPr>
        <p:spPr>
          <a:xfrm flipH="1">
            <a:off x="232981" y="2513072"/>
            <a:ext cx="1734817" cy="84461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3B4E5E99-D333-3288-FC16-F7C363F8B1AF}"/>
              </a:ext>
            </a:extLst>
          </p:cNvPr>
          <p:cNvCxnSpPr>
            <a:cxnSpLocks/>
          </p:cNvCxnSpPr>
          <p:nvPr/>
        </p:nvCxnSpPr>
        <p:spPr>
          <a:xfrm flipH="1" flipV="1">
            <a:off x="5147362" y="988232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7DCA7134-307B-3748-A34D-D08961C84E7C}"/>
              </a:ext>
            </a:extLst>
          </p:cNvPr>
          <p:cNvCxnSpPr>
            <a:cxnSpLocks/>
          </p:cNvCxnSpPr>
          <p:nvPr/>
        </p:nvCxnSpPr>
        <p:spPr>
          <a:xfrm flipH="1">
            <a:off x="5143233" y="988231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F099FF8-1FE4-17AE-B5CC-7C5B8681E460}"/>
              </a:ext>
            </a:extLst>
          </p:cNvPr>
          <p:cNvCxnSpPr>
            <a:cxnSpLocks/>
          </p:cNvCxnSpPr>
          <p:nvPr/>
        </p:nvCxnSpPr>
        <p:spPr>
          <a:xfrm flipH="1">
            <a:off x="5128766" y="4114796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01120486-2641-1328-FDA5-F1A4745CCAC0}"/>
              </a:ext>
            </a:extLst>
          </p:cNvPr>
          <p:cNvCxnSpPr>
            <a:cxnSpLocks/>
          </p:cNvCxnSpPr>
          <p:nvPr/>
        </p:nvCxnSpPr>
        <p:spPr>
          <a:xfrm flipH="1" flipV="1">
            <a:off x="5132895" y="4114797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5784B118-DC05-FD69-2333-795192190978}"/>
              </a:ext>
            </a:extLst>
          </p:cNvPr>
          <p:cNvCxnSpPr>
            <a:cxnSpLocks/>
          </p:cNvCxnSpPr>
          <p:nvPr/>
        </p:nvCxnSpPr>
        <p:spPr>
          <a:xfrm flipH="1" flipV="1">
            <a:off x="1924082" y="4098866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64177192-D6D1-87E5-C23F-2FADE7351B00}"/>
              </a:ext>
            </a:extLst>
          </p:cNvPr>
          <p:cNvCxnSpPr>
            <a:cxnSpLocks/>
          </p:cNvCxnSpPr>
          <p:nvPr/>
        </p:nvCxnSpPr>
        <p:spPr>
          <a:xfrm flipH="1">
            <a:off x="1919953" y="4098865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nettore diritto 90">
            <a:extLst>
              <a:ext uri="{FF2B5EF4-FFF2-40B4-BE49-F238E27FC236}">
                <a16:creationId xmlns:a16="http://schemas.microsoft.com/office/drawing/2014/main" id="{D12593E9-F80A-92F4-39BD-13BFD73BE4C6}"/>
              </a:ext>
            </a:extLst>
          </p:cNvPr>
          <p:cNvCxnSpPr>
            <a:cxnSpLocks/>
          </p:cNvCxnSpPr>
          <p:nvPr/>
        </p:nvCxnSpPr>
        <p:spPr>
          <a:xfrm flipH="1">
            <a:off x="1928904" y="254895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92706861-D0B2-BC07-F724-8452EDE8DF62}"/>
              </a:ext>
            </a:extLst>
          </p:cNvPr>
          <p:cNvCxnSpPr>
            <a:cxnSpLocks/>
          </p:cNvCxnSpPr>
          <p:nvPr/>
        </p:nvCxnSpPr>
        <p:spPr>
          <a:xfrm flipH="1" flipV="1">
            <a:off x="1933033" y="2548953"/>
            <a:ext cx="3191287" cy="15915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CBCED455-906D-BDD8-8E03-CE5CF7E77580}"/>
              </a:ext>
            </a:extLst>
          </p:cNvPr>
          <p:cNvCxnSpPr>
            <a:cxnSpLocks/>
          </p:cNvCxnSpPr>
          <p:nvPr/>
        </p:nvCxnSpPr>
        <p:spPr>
          <a:xfrm flipH="1">
            <a:off x="1947249" y="986133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e 66">
            <a:extLst>
              <a:ext uri="{FF2B5EF4-FFF2-40B4-BE49-F238E27FC236}">
                <a16:creationId xmlns:a16="http://schemas.microsoft.com/office/drawing/2014/main" id="{9D6860D1-8F41-CD51-9024-D35115E965C9}"/>
              </a:ext>
            </a:extLst>
          </p:cNvPr>
          <p:cNvSpPr/>
          <p:nvPr/>
        </p:nvSpPr>
        <p:spPr>
          <a:xfrm>
            <a:off x="3342029" y="16674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3B6E24AC-F5AF-C57D-C1B9-CBCEE953346E}"/>
              </a:ext>
            </a:extLst>
          </p:cNvPr>
          <p:cNvSpPr/>
          <p:nvPr/>
        </p:nvSpPr>
        <p:spPr>
          <a:xfrm>
            <a:off x="4958424" y="244465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FBF8C8C1-6E56-155D-3153-2A773E20E979}"/>
              </a:ext>
            </a:extLst>
          </p:cNvPr>
          <p:cNvSpPr/>
          <p:nvPr/>
        </p:nvSpPr>
        <p:spPr>
          <a:xfrm>
            <a:off x="4958424" y="8923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C01BB8A8-2E8C-3B54-669E-665DAD0E6B20}"/>
              </a:ext>
            </a:extLst>
          </p:cNvPr>
          <p:cNvSpPr/>
          <p:nvPr/>
        </p:nvSpPr>
        <p:spPr>
          <a:xfrm>
            <a:off x="1762457" y="882512"/>
            <a:ext cx="368483" cy="187657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DCA23DCF-DD88-DA8E-870F-9ECC561D00F9}"/>
              </a:ext>
            </a:extLst>
          </p:cNvPr>
          <p:cNvSpPr/>
          <p:nvPr/>
        </p:nvSpPr>
        <p:spPr>
          <a:xfrm>
            <a:off x="1762457" y="244465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85612A1D-705D-2E65-DD08-D27333946E11}"/>
              </a:ext>
            </a:extLst>
          </p:cNvPr>
          <p:cNvCxnSpPr>
            <a:cxnSpLocks/>
          </p:cNvCxnSpPr>
          <p:nvPr/>
        </p:nvCxnSpPr>
        <p:spPr>
          <a:xfrm flipH="1">
            <a:off x="5127894" y="2558282"/>
            <a:ext cx="3195416" cy="1552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e 73">
            <a:extLst>
              <a:ext uri="{FF2B5EF4-FFF2-40B4-BE49-F238E27FC236}">
                <a16:creationId xmlns:a16="http://schemas.microsoft.com/office/drawing/2014/main" id="{ADB71497-B0FF-806E-41D1-5E0957E04A0C}"/>
              </a:ext>
            </a:extLst>
          </p:cNvPr>
          <p:cNvSpPr/>
          <p:nvPr/>
        </p:nvSpPr>
        <p:spPr>
          <a:xfrm>
            <a:off x="6522674" y="323963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0024996-4D91-84EC-830B-9DA1CBFF4529}"/>
              </a:ext>
            </a:extLst>
          </p:cNvPr>
          <p:cNvSpPr/>
          <p:nvPr/>
        </p:nvSpPr>
        <p:spPr>
          <a:xfrm>
            <a:off x="8139069" y="4016803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7B528973-C857-E09F-69D5-108FF0270C38}"/>
              </a:ext>
            </a:extLst>
          </p:cNvPr>
          <p:cNvSpPr/>
          <p:nvPr/>
        </p:nvSpPr>
        <p:spPr>
          <a:xfrm>
            <a:off x="8139069" y="246445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D89CC862-822E-D524-2F36-F968802823A1}"/>
              </a:ext>
            </a:extLst>
          </p:cNvPr>
          <p:cNvSpPr/>
          <p:nvPr/>
        </p:nvSpPr>
        <p:spPr>
          <a:xfrm>
            <a:off x="4943102" y="401680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FCC6428D-8463-B11E-41CE-C9C1BEE9D4FC}"/>
              </a:ext>
            </a:extLst>
          </p:cNvPr>
          <p:cNvSpPr/>
          <p:nvPr/>
        </p:nvSpPr>
        <p:spPr>
          <a:xfrm>
            <a:off x="1744112" y="4007472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1E7FA589-56B5-3221-86C5-77BEFD69ECC9}"/>
              </a:ext>
            </a:extLst>
          </p:cNvPr>
          <p:cNvSpPr/>
          <p:nvPr/>
        </p:nvSpPr>
        <p:spPr>
          <a:xfrm>
            <a:off x="3314733" y="478021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819EF675-B5D2-1E53-D7D3-8238FDD5BDFF}"/>
              </a:ext>
            </a:extLst>
          </p:cNvPr>
          <p:cNvSpPr/>
          <p:nvPr/>
        </p:nvSpPr>
        <p:spPr>
          <a:xfrm>
            <a:off x="4931128" y="5557386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853186EC-51ED-44C5-B963-4DAA9E5F6355}"/>
              </a:ext>
            </a:extLst>
          </p:cNvPr>
          <p:cNvSpPr/>
          <p:nvPr/>
        </p:nvSpPr>
        <p:spPr>
          <a:xfrm>
            <a:off x="1735161" y="5557385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79EF2B22-8A58-5172-A09F-586BDC1FB5D0}"/>
              </a:ext>
            </a:extLst>
          </p:cNvPr>
          <p:cNvSpPr/>
          <p:nvPr/>
        </p:nvSpPr>
        <p:spPr>
          <a:xfrm>
            <a:off x="6523546" y="4796149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e 107">
            <a:extLst>
              <a:ext uri="{FF2B5EF4-FFF2-40B4-BE49-F238E27FC236}">
                <a16:creationId xmlns:a16="http://schemas.microsoft.com/office/drawing/2014/main" id="{317B3F68-E9B6-8ABF-4E60-A9B26F59786A}"/>
              </a:ext>
            </a:extLst>
          </p:cNvPr>
          <p:cNvSpPr/>
          <p:nvPr/>
        </p:nvSpPr>
        <p:spPr>
          <a:xfrm>
            <a:off x="8139941" y="5573317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A4524580-AB6F-1274-FD02-E76F7CD2AF51}"/>
              </a:ext>
            </a:extLst>
          </p:cNvPr>
          <p:cNvSpPr/>
          <p:nvPr/>
        </p:nvSpPr>
        <p:spPr>
          <a:xfrm>
            <a:off x="6538013" y="1669584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20E68AC0-72EE-2E35-F94B-9E62748F4EBF}"/>
              </a:ext>
            </a:extLst>
          </p:cNvPr>
          <p:cNvSpPr/>
          <p:nvPr/>
        </p:nvSpPr>
        <p:spPr>
          <a:xfrm>
            <a:off x="8154408" y="894401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Connettore diritto 190">
            <a:extLst>
              <a:ext uri="{FF2B5EF4-FFF2-40B4-BE49-F238E27FC236}">
                <a16:creationId xmlns:a16="http://schemas.microsoft.com/office/drawing/2014/main" id="{220FEC6B-6A4A-0319-E3FC-CB6B5E716D32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278724" y="3347822"/>
            <a:ext cx="1519351" cy="687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1" name="Immagine 230">
            <a:extLst>
              <a:ext uri="{FF2B5EF4-FFF2-40B4-BE49-F238E27FC236}">
                <a16:creationId xmlns:a16="http://schemas.microsoft.com/office/drawing/2014/main" id="{935380BF-2C5E-B0E7-7119-F2C59DFBBD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833" y1="22270" x2="45833" y2="22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249" y="3314615"/>
            <a:ext cx="728512" cy="945042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A4BBCAB-0A0C-CD9E-8169-8A43E1923C6F}"/>
              </a:ext>
            </a:extLst>
          </p:cNvPr>
          <p:cNvCxnSpPr>
            <a:cxnSpLocks/>
          </p:cNvCxnSpPr>
          <p:nvPr/>
        </p:nvCxnSpPr>
        <p:spPr>
          <a:xfrm>
            <a:off x="2080642" y="1046535"/>
            <a:ext cx="1279050" cy="63118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9AB365E6-36B0-5B18-7E11-746B4B9F1DE8}"/>
              </a:ext>
            </a:extLst>
          </p:cNvPr>
          <p:cNvCxnSpPr>
            <a:cxnSpLocks/>
          </p:cNvCxnSpPr>
          <p:nvPr/>
        </p:nvCxnSpPr>
        <p:spPr>
          <a:xfrm>
            <a:off x="3607656" y="1844199"/>
            <a:ext cx="1279050" cy="631185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033B9F55-C4F9-70A7-2906-DA9E97DD4411}"/>
              </a:ext>
            </a:extLst>
          </p:cNvPr>
          <p:cNvCxnSpPr>
            <a:cxnSpLocks/>
          </p:cNvCxnSpPr>
          <p:nvPr/>
        </p:nvCxnSpPr>
        <p:spPr>
          <a:xfrm flipV="1">
            <a:off x="3638204" y="2624569"/>
            <a:ext cx="1347952" cy="63321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59A1352C-CD56-AF63-2D5A-C25458E780FB}"/>
              </a:ext>
            </a:extLst>
          </p:cNvPr>
          <p:cNvCxnSpPr>
            <a:cxnSpLocks/>
          </p:cNvCxnSpPr>
          <p:nvPr/>
        </p:nvCxnSpPr>
        <p:spPr>
          <a:xfrm>
            <a:off x="3664052" y="3401617"/>
            <a:ext cx="1279050" cy="63118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  <a:alpha val="89804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B25E2BF-1CB8-FC82-F488-DDAE764FFAE6}"/>
              </a:ext>
            </a:extLst>
          </p:cNvPr>
          <p:cNvSpPr txBox="1"/>
          <p:nvPr/>
        </p:nvSpPr>
        <p:spPr>
          <a:xfrm>
            <a:off x="3953296" y="1102601"/>
            <a:ext cx="50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Bierstadt" panose="020B0004020202020204" pitchFamily="34" charset="0"/>
              </a:rPr>
              <a:t>0.5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0C4F1B-A65E-6A6F-8045-329C714E2CF3}"/>
              </a:ext>
            </a:extLst>
          </p:cNvPr>
          <p:cNvSpPr txBox="1"/>
          <p:nvPr/>
        </p:nvSpPr>
        <p:spPr>
          <a:xfrm>
            <a:off x="4349508" y="1934611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CD16A2-7F23-3DC7-AD81-BA0B97023657}"/>
              </a:ext>
            </a:extLst>
          </p:cNvPr>
          <p:cNvSpPr txBox="1"/>
          <p:nvPr/>
        </p:nvSpPr>
        <p:spPr>
          <a:xfrm>
            <a:off x="5710596" y="1858597"/>
            <a:ext cx="48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0.7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F480636-D870-0DE5-3745-226313AB783F}"/>
              </a:ext>
            </a:extLst>
          </p:cNvPr>
          <p:cNvSpPr txBox="1"/>
          <p:nvPr/>
        </p:nvSpPr>
        <p:spPr>
          <a:xfrm>
            <a:off x="2474215" y="1878920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0.4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2331365-21D3-55B0-6165-28AB1C1EDFC5}"/>
              </a:ext>
            </a:extLst>
          </p:cNvPr>
          <p:cNvSpPr txBox="1"/>
          <p:nvPr/>
        </p:nvSpPr>
        <p:spPr>
          <a:xfrm>
            <a:off x="3988950" y="2710918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F24D383-DBD4-FF00-7005-351EFF8E5E6D}"/>
              </a:ext>
            </a:extLst>
          </p:cNvPr>
          <p:cNvSpPr txBox="1"/>
          <p:nvPr/>
        </p:nvSpPr>
        <p:spPr>
          <a:xfrm>
            <a:off x="6108407" y="2801724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0.8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FDBA834-7C28-0E10-2219-8BAE716F1C00}"/>
              </a:ext>
            </a:extLst>
          </p:cNvPr>
          <p:cNvSpPr txBox="1"/>
          <p:nvPr/>
        </p:nvSpPr>
        <p:spPr>
          <a:xfrm>
            <a:off x="5986072" y="3663887"/>
            <a:ext cx="438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CB449C3-F5AA-02AB-ADAB-6224FAFBDF6F}"/>
              </a:ext>
            </a:extLst>
          </p:cNvPr>
          <p:cNvSpPr txBox="1"/>
          <p:nvPr/>
        </p:nvSpPr>
        <p:spPr>
          <a:xfrm>
            <a:off x="7448657" y="3468451"/>
            <a:ext cx="57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1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7BABB57-A3E1-7940-6124-068CC4CF7E49}"/>
              </a:ext>
            </a:extLst>
          </p:cNvPr>
          <p:cNvSpPr txBox="1"/>
          <p:nvPr/>
        </p:nvSpPr>
        <p:spPr>
          <a:xfrm>
            <a:off x="7383874" y="2668217"/>
            <a:ext cx="42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0.9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E5754D7-2030-B197-87A8-3987DAC25907}"/>
              </a:ext>
            </a:extLst>
          </p:cNvPr>
          <p:cNvSpPr txBox="1"/>
          <p:nvPr/>
        </p:nvSpPr>
        <p:spPr>
          <a:xfrm>
            <a:off x="2677946" y="1100864"/>
            <a:ext cx="45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F7E418A-3F6C-765F-6B5E-23A119D96DEF}"/>
              </a:ext>
            </a:extLst>
          </p:cNvPr>
          <p:cNvSpPr txBox="1"/>
          <p:nvPr/>
        </p:nvSpPr>
        <p:spPr>
          <a:xfrm>
            <a:off x="2764777" y="2759135"/>
            <a:ext cx="45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0.3</a:t>
            </a:r>
            <a:endParaRPr lang="en-GB" sz="1400" dirty="0">
              <a:latin typeface="Bierstadt" panose="020B0004020202020204" pitchFamily="34" charset="0"/>
            </a:endParaRPr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C9F3886B-180F-1312-9BA8-6990CCCF7593}"/>
              </a:ext>
            </a:extLst>
          </p:cNvPr>
          <p:cNvSpPr/>
          <p:nvPr/>
        </p:nvSpPr>
        <p:spPr>
          <a:xfrm>
            <a:off x="3279339" y="3215538"/>
            <a:ext cx="368483" cy="1876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8E2EC0E2-71C3-A50D-9515-22E0D8E000E8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3593859" y="3375713"/>
            <a:ext cx="1388477" cy="720251"/>
          </a:xfrm>
          <a:prstGeom prst="line">
            <a:avLst/>
          </a:prstGeom>
          <a:ln w="38100">
            <a:solidFill>
              <a:srgbClr val="FF0000">
                <a:alpha val="89804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17796B2A-1E85-8A5F-3EFF-E7480F66DD6C}"/>
                  </a:ext>
                </a:extLst>
              </p:cNvPr>
              <p:cNvSpPr txBox="1"/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Bierstadt" panose="020B0004020202020204" pitchFamily="34" charset="0"/>
                  </a:rPr>
                  <a:t>Il disertore, dopo il suo passaggio lascia una traccia </a:t>
                </a:r>
                <a:r>
                  <a:rPr lang="it-IT" sz="1400" i="1" dirty="0">
                    <a:latin typeface="Bierstadt" panose="020B0004020202020204" pitchFamily="34" charset="0"/>
                  </a:rPr>
                  <a:t>K </a:t>
                </a:r>
                <a:r>
                  <a:rPr lang="it-IT" sz="1400" dirty="0">
                    <a:latin typeface="Bierstadt" panose="020B0004020202020204" pitchFamily="34" charset="0"/>
                  </a:rPr>
                  <a:t>relativa al suo passaggio e, con una certa probabilità definita da noi, a causa della sua disattenzione, può rendere inaccessibile il link appena attraversato. La traccia rilasciata va ad incrementare quella già presente sull’arco secondo la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it-IT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400" dirty="0">
                    <a:latin typeface="Bierstadt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17796B2A-1E85-8A5F-3EFF-E7480F66D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61" y="161309"/>
                <a:ext cx="3637522" cy="1833194"/>
              </a:xfrm>
              <a:prstGeom prst="rect">
                <a:avLst/>
              </a:prstGeom>
              <a:blipFill>
                <a:blip r:embed="rId4"/>
                <a:stretch>
                  <a:fillRect l="-334" r="-1171"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47B47E7C-714A-3DE5-FCBA-EB6DA6D5C130}"/>
              </a:ext>
            </a:extLst>
          </p:cNvPr>
          <p:cNvSpPr txBox="1"/>
          <p:nvPr/>
        </p:nvSpPr>
        <p:spPr>
          <a:xfrm>
            <a:off x="3855895" y="3699187"/>
            <a:ext cx="46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Bierstadt" panose="020B0004020202020204" pitchFamily="34" charset="0"/>
              </a:rPr>
              <a:t>0.2</a:t>
            </a:r>
            <a:endParaRPr lang="en-GB" sz="1400" dirty="0">
              <a:latin typeface="Bierstadt" panose="020B00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742644-BA6F-4CDC-D41F-70632D1BA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480" y="5058045"/>
            <a:ext cx="4190315" cy="166721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109DCB-3815-DC86-1420-99708352525F}"/>
              </a:ext>
            </a:extLst>
          </p:cNvPr>
          <p:cNvSpPr txBox="1"/>
          <p:nvPr/>
        </p:nvSpPr>
        <p:spPr>
          <a:xfrm>
            <a:off x="146799" y="6369472"/>
            <a:ext cx="5858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>
                <a:latin typeface="Bierstadt" panose="020B0004020202020204" pitchFamily="34" charset="0"/>
              </a:rPr>
              <a:t>Il calcolo e la scelta vengono effettuati </a:t>
            </a:r>
            <a:r>
              <a:rPr lang="it-IT" sz="1400" b="1" dirty="0">
                <a:latin typeface="Bierstadt" panose="020B0004020202020204" pitchFamily="34" charset="0"/>
              </a:rPr>
              <a:t>nella stessa unità di tempo</a:t>
            </a:r>
            <a:r>
              <a:rPr lang="it-IT" sz="1400" dirty="0">
                <a:latin typeface="Bierstadt" panose="020B0004020202020204" pitchFamily="34" charset="0"/>
              </a:rPr>
              <a:t>.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913F15-CB98-76BE-24BE-060CFB9634EE}"/>
              </a:ext>
            </a:extLst>
          </p:cNvPr>
          <p:cNvSpPr txBox="1"/>
          <p:nvPr/>
        </p:nvSpPr>
        <p:spPr>
          <a:xfrm>
            <a:off x="199550" y="134950"/>
            <a:ext cx="88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ierstadt" panose="020B0004020202020204" pitchFamily="34" charset="0"/>
              </a:rPr>
              <a:t>Step 4</a:t>
            </a:r>
            <a:endParaRPr lang="en-GB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68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1FF6692B-9AAD-1873-26AE-67191609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62413"/>
              </p:ext>
            </p:extLst>
          </p:nvPr>
        </p:nvGraphicFramePr>
        <p:xfrm>
          <a:off x="2415457" y="579120"/>
          <a:ext cx="7062838" cy="5699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94189">
                  <a:extLst>
                    <a:ext uri="{9D8B030D-6E8A-4147-A177-3AD203B41FA5}">
                      <a16:colId xmlns:a16="http://schemas.microsoft.com/office/drawing/2014/main" val="2745191298"/>
                    </a:ext>
                  </a:extLst>
                </a:gridCol>
                <a:gridCol w="3094189">
                  <a:extLst>
                    <a:ext uri="{9D8B030D-6E8A-4147-A177-3AD203B41FA5}">
                      <a16:colId xmlns:a16="http://schemas.microsoft.com/office/drawing/2014/main" val="1968016587"/>
                    </a:ext>
                  </a:extLst>
                </a:gridCol>
                <a:gridCol w="874460">
                  <a:extLst>
                    <a:ext uri="{9D8B030D-6E8A-4147-A177-3AD203B41FA5}">
                      <a16:colId xmlns:a16="http://schemas.microsoft.com/office/drawing/2014/main" val="3514704101"/>
                    </a:ext>
                  </a:extLst>
                </a:gridCol>
              </a:tblGrid>
              <a:tr h="27910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Numero di gruppi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Numero di agenti in ogni gruppo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57033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77793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02585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899457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219865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747444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02919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72480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409758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87839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71716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962148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960106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dirty="0">
                          <a:solidFill>
                            <a:srgbClr val="FF0000"/>
                          </a:solidFill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025648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53886"/>
                  </a:ext>
                </a:extLst>
              </a:tr>
              <a:tr h="279109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563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7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6401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3371</Words>
  <Application>Microsoft Office PowerPoint</Application>
  <PresentationFormat>Widescreen</PresentationFormat>
  <Paragraphs>631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1" baseType="lpstr">
      <vt:lpstr>Arial</vt:lpstr>
      <vt:lpstr>Bahnschrift</vt:lpstr>
      <vt:lpstr>Bierstadt</vt:lpstr>
      <vt:lpstr>Calibri</vt:lpstr>
      <vt:lpstr>Calibri Light</vt:lpstr>
      <vt:lpstr>Cambria Math</vt:lpstr>
      <vt:lpstr>Tema di Office</vt:lpstr>
      <vt:lpstr>CROWD MODEL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Carolina</dc:creator>
  <cp:lastModifiedBy>Carolina</cp:lastModifiedBy>
  <cp:revision>17</cp:revision>
  <dcterms:created xsi:type="dcterms:W3CDTF">2023-02-22T09:40:59Z</dcterms:created>
  <dcterms:modified xsi:type="dcterms:W3CDTF">2023-04-11T14:45:48Z</dcterms:modified>
</cp:coreProperties>
</file>